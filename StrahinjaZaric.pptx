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2" r:id="rId18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5616E1D-0406-4330-B9AC-F8EAA3426DDA}" type="datetimeFigureOut">
              <a:rPr lang="sr-Latn-RS" smtClean="0"/>
              <a:t>7.4.2025.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sr-Latn-R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428887C0-61D2-4C02-8A0C-DD8174E901E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648427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6E1D-0406-4330-B9AC-F8EAA3426DDA}" type="datetimeFigureOut">
              <a:rPr lang="sr-Latn-RS" smtClean="0"/>
              <a:t>7.4.2025.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887C0-61D2-4C02-8A0C-DD8174E901E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836104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6E1D-0406-4330-B9AC-F8EAA3426DDA}" type="datetimeFigureOut">
              <a:rPr lang="sr-Latn-RS" smtClean="0"/>
              <a:t>7.4.2025.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887C0-61D2-4C02-8A0C-DD8174E901E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588978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6E1D-0406-4330-B9AC-F8EAA3426DDA}" type="datetimeFigureOut">
              <a:rPr lang="sr-Latn-RS" smtClean="0"/>
              <a:t>7.4.2025.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887C0-61D2-4C02-8A0C-DD8174E901E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216625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6E1D-0406-4330-B9AC-F8EAA3426DDA}" type="datetimeFigureOut">
              <a:rPr lang="sr-Latn-RS" smtClean="0"/>
              <a:t>7.4.2025.</a:t>
            </a:fld>
            <a:endParaRPr lang="sr-Latn-R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887C0-61D2-4C02-8A0C-DD8174E901E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017580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6E1D-0406-4330-B9AC-F8EAA3426DDA}" type="datetimeFigureOut">
              <a:rPr lang="sr-Latn-RS" smtClean="0"/>
              <a:t>7.4.2025.</a:t>
            </a:fld>
            <a:endParaRPr lang="sr-Latn-R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887C0-61D2-4C02-8A0C-DD8174E901E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322430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6E1D-0406-4330-B9AC-F8EAA3426DDA}" type="datetimeFigureOut">
              <a:rPr lang="sr-Latn-RS" smtClean="0"/>
              <a:t>7.4.2025.</a:t>
            </a:fld>
            <a:endParaRPr lang="sr-Latn-R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887C0-61D2-4C02-8A0C-DD8174E901E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82973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6E1D-0406-4330-B9AC-F8EAA3426DDA}" type="datetimeFigureOut">
              <a:rPr lang="sr-Latn-RS" smtClean="0"/>
              <a:t>7.4.2025.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887C0-61D2-4C02-8A0C-DD8174E901E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422622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6E1D-0406-4330-B9AC-F8EAA3426DDA}" type="datetimeFigureOut">
              <a:rPr lang="sr-Latn-RS" smtClean="0"/>
              <a:t>7.4.2025.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887C0-61D2-4C02-8A0C-DD8174E901E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238310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6E1D-0406-4330-B9AC-F8EAA3426DDA}" type="datetimeFigureOut">
              <a:rPr lang="sr-Latn-RS" smtClean="0"/>
              <a:t>7.4.2025.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887C0-61D2-4C02-8A0C-DD8174E901E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811153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6E1D-0406-4330-B9AC-F8EAA3426DDA}" type="datetimeFigureOut">
              <a:rPr lang="sr-Latn-RS" smtClean="0"/>
              <a:t>7.4.2025.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887C0-61D2-4C02-8A0C-DD8174E901E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410900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6E1D-0406-4330-B9AC-F8EAA3426DDA}" type="datetimeFigureOut">
              <a:rPr lang="sr-Latn-RS" smtClean="0"/>
              <a:t>7.4.2025.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887C0-61D2-4C02-8A0C-DD8174E901E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552759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6E1D-0406-4330-B9AC-F8EAA3426DDA}" type="datetimeFigureOut">
              <a:rPr lang="sr-Latn-RS" smtClean="0"/>
              <a:t>7.4.2025.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887C0-61D2-4C02-8A0C-DD8174E901E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09716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6E1D-0406-4330-B9AC-F8EAA3426DDA}" type="datetimeFigureOut">
              <a:rPr lang="sr-Latn-RS" smtClean="0"/>
              <a:t>7.4.2025.</a:t>
            </a:fld>
            <a:endParaRPr lang="sr-Latn-R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887C0-61D2-4C02-8A0C-DD8174E901E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7935764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6E1D-0406-4330-B9AC-F8EAA3426DDA}" type="datetimeFigureOut">
              <a:rPr lang="sr-Latn-RS" smtClean="0"/>
              <a:t>7.4.2025.</a:t>
            </a:fld>
            <a:endParaRPr lang="sr-Latn-R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sr-Latn-R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887C0-61D2-4C02-8A0C-DD8174E901E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482290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5616E1D-0406-4330-B9AC-F8EAA3426DDA}" type="datetimeFigureOut">
              <a:rPr lang="sr-Latn-RS" smtClean="0"/>
              <a:t>7.4.2025.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887C0-61D2-4C02-8A0C-DD8174E901E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3088961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5616E1D-0406-4330-B9AC-F8EAA3426DDA}" type="datetimeFigureOut">
              <a:rPr lang="sr-Latn-RS" smtClean="0"/>
              <a:t>7.4.2025.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887C0-61D2-4C02-8A0C-DD8174E901E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803594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5616E1D-0406-4330-B9AC-F8EAA3426DDA}" type="datetimeFigureOut">
              <a:rPr lang="sr-Latn-RS" smtClean="0"/>
              <a:t>7.4.2025.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sr-Latn-R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428887C0-61D2-4C02-8A0C-DD8174E901E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258750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ynamics.microsoft.com/en-us/field-service/overview/" TargetMode="External"/><Relationship Id="rId2" Type="http://schemas.openxmlformats.org/officeDocument/2006/relationships/hyperlink" Target="https://learn.microsoft.com/en-us/dynamics365/field-service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sr-Latn-RS" b="1" dirty="0" smtClean="0"/>
              <a:t>Mobilno upravljanje terenskom službom</a:t>
            </a:r>
            <a:r>
              <a:rPr lang="sr-Latn-RS" dirty="0"/>
              <a:t/>
            </a:r>
            <a:br>
              <a:rPr lang="sr-Latn-RS" dirty="0"/>
            </a:br>
            <a:endParaRPr lang="sr-Latn-R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 smtClean="0"/>
              <a:t>Strahinja</a:t>
            </a:r>
            <a:r>
              <a:rPr lang="en-GB" dirty="0" smtClean="0"/>
              <a:t> Z</a:t>
            </a:r>
            <a:r>
              <a:rPr lang="sr-Latn-RS" dirty="0" smtClean="0"/>
              <a:t>arić 73/22 RN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53627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b="1" dirty="0" smtClean="0"/>
              <a:t>FSM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r-Latn-RS" dirty="0" smtClean="0"/>
              <a:t>FSM (Field Service Management) je softver za firme sa mobilnim radnicima (npr. tehničari, električari, vodoinstalateri). </a:t>
            </a:r>
          </a:p>
          <a:p>
            <a:r>
              <a:rPr lang="sr-Latn-RS" dirty="0" smtClean="0"/>
              <a:t>Omogućava:</a:t>
            </a:r>
          </a:p>
          <a:p>
            <a:pPr lvl="1"/>
            <a:r>
              <a:rPr lang="sr-Latn-RS" dirty="0" smtClean="0"/>
              <a:t>Praćenje i upravljanje radnim nalozima</a:t>
            </a:r>
          </a:p>
          <a:p>
            <a:pPr lvl="1"/>
            <a:r>
              <a:rPr lang="sr-Latn-RS" dirty="0" smtClean="0"/>
              <a:t>Dodelu zadataka tehničarima</a:t>
            </a:r>
          </a:p>
          <a:p>
            <a:pPr lvl="1"/>
            <a:r>
              <a:rPr lang="sr-Latn-RS" dirty="0" smtClean="0"/>
              <a:t>Upravljanje zalihama na terenu</a:t>
            </a:r>
          </a:p>
          <a:p>
            <a:r>
              <a:rPr lang="sr-Latn-RS" dirty="0" smtClean="0"/>
              <a:t>Prednosti FSM rešenja</a:t>
            </a:r>
          </a:p>
          <a:p>
            <a:pPr lvl="1"/>
            <a:r>
              <a:rPr lang="sr-Latn-RS" dirty="0" smtClean="0"/>
              <a:t>Brža i efikasnija usluga</a:t>
            </a:r>
          </a:p>
          <a:p>
            <a:pPr lvl="1"/>
            <a:r>
              <a:rPr lang="sr-Latn-RS" dirty="0" smtClean="0"/>
              <a:t>Mobilni pristup podacima (delovi, kontakti, plaćanja)</a:t>
            </a:r>
          </a:p>
          <a:p>
            <a:pPr lvl="1"/>
            <a:r>
              <a:rPr lang="sr-Latn-RS" dirty="0" smtClean="0"/>
              <a:t>Veća šansa da se posao završi iz prve</a:t>
            </a:r>
          </a:p>
          <a:p>
            <a:pPr lvl="1"/>
            <a:r>
              <a:rPr lang="sr-Latn-RS" dirty="0" smtClean="0"/>
              <a:t>Pametno raspoređivanje tehničara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4081992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Microsoft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r-Latn-RS" dirty="0" smtClean="0"/>
              <a:t>Zašto klaud?</a:t>
            </a:r>
          </a:p>
          <a:p>
            <a:pPr lvl="1"/>
            <a:r>
              <a:rPr lang="sr-Latn-RS" dirty="0" smtClean="0"/>
              <a:t>Tehničari ne dolaze u centralu – aplikacije moraju biti dostupne svuda</a:t>
            </a:r>
          </a:p>
          <a:p>
            <a:pPr lvl="1"/>
            <a:r>
              <a:rPr lang="sr-Latn-RS" dirty="0" smtClean="0"/>
              <a:t>Klaud omogućava pristup u realnom vremenu</a:t>
            </a:r>
          </a:p>
          <a:p>
            <a:pPr lvl="1"/>
            <a:r>
              <a:rPr lang="sr-Latn-RS" dirty="0" smtClean="0"/>
              <a:t>Dynamics 365 Field Service radi preko interneta i mobilnih aplikacija</a:t>
            </a:r>
          </a:p>
          <a:p>
            <a:r>
              <a:rPr lang="sr-Latn-RS" dirty="0" smtClean="0"/>
              <a:t>Microsoft i konkurencija</a:t>
            </a:r>
          </a:p>
          <a:p>
            <a:pPr lvl="1"/>
            <a:r>
              <a:rPr lang="sr-Latn-RS" dirty="0" smtClean="0"/>
              <a:t>Microsoft kupio FieldOne (2015) → razvio sopstveno FSM rešenje</a:t>
            </a:r>
          </a:p>
          <a:p>
            <a:pPr lvl="1"/>
            <a:r>
              <a:rPr lang="sr-Latn-RS" dirty="0" smtClean="0"/>
              <a:t>Konkurenti nude specifična rešenja (npr. za istrebljivače, baštovane)</a:t>
            </a:r>
          </a:p>
          <a:p>
            <a:pPr lvl="1"/>
            <a:r>
              <a:rPr lang="sr-Latn-RS" dirty="0" smtClean="0"/>
              <a:t>Prednost Microsoft-a: sve u jednom (Azure, CRM, ERP, Office)</a:t>
            </a:r>
          </a:p>
          <a:p>
            <a:r>
              <a:rPr lang="sr-Latn-RS" dirty="0" smtClean="0"/>
              <a:t>Primeri integracija:</a:t>
            </a:r>
          </a:p>
          <a:p>
            <a:pPr lvl="1"/>
            <a:r>
              <a:rPr lang="sr-Latn-RS" dirty="0" smtClean="0"/>
              <a:t>Klijenti (CRM) ↔ Kupci (ERP)</a:t>
            </a:r>
          </a:p>
          <a:p>
            <a:pPr lvl="1"/>
            <a:r>
              <a:rPr lang="sr-Latn-RS" dirty="0" smtClean="0"/>
              <a:t>Artikli, zalihe, cene – se sinhronizuju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677524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Šema</a:t>
            </a:r>
            <a:endParaRPr lang="sr-Latn-R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61" b="27735"/>
          <a:stretch/>
        </p:blipFill>
        <p:spPr>
          <a:xfrm>
            <a:off x="2749825" y="3167149"/>
            <a:ext cx="9112099" cy="2369127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24" r="37674"/>
          <a:stretch/>
        </p:blipFill>
        <p:spPr>
          <a:xfrm>
            <a:off x="838200" y="2309609"/>
            <a:ext cx="1911625" cy="423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635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Upoznavanje sa ključnim komponentama Dynamics 365 for Field Service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b="1" dirty="0" smtClean="0"/>
              <a:t>Pristup meniju Field Service modula</a:t>
            </a:r>
            <a:endParaRPr lang="sr-Latn-RS" dirty="0" smtClean="0"/>
          </a:p>
          <a:p>
            <a:pPr lvl="1"/>
            <a:r>
              <a:rPr lang="sr-Latn-RS" dirty="0" smtClean="0"/>
              <a:t>Klikom na plavi Field Service kvadrat u padajućem meniju dobijamo pristup glavnim funkcionalnostima</a:t>
            </a:r>
            <a:endParaRPr lang="sr-Latn-R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440" y="3657599"/>
            <a:ext cx="6911215" cy="262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286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Ključne komponente</a:t>
            </a:r>
            <a:endParaRPr lang="sr-Latn-R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order (radni nalog)</a:t>
            </a:r>
            <a:r>
              <a:rPr kumimoji="0" 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Centralni dokument za svaki servisni zadatak.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 board (tabla rasporeda)</a:t>
            </a:r>
            <a:r>
              <a:rPr kumimoji="0" 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Vizuelno planiranje i praćenje radnih naloga.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 booking (rezervacija resursa)</a:t>
            </a:r>
            <a:r>
              <a:rPr kumimoji="0" 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Dodela tehničara ili opreme za radni nalog.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asset (imovina korisnika)</a:t>
            </a:r>
            <a:r>
              <a:rPr kumimoji="0" 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Oprema kod klijenta sa svim komponentama.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Agreement (ugovor)</a:t>
            </a:r>
            <a:r>
              <a:rPr kumimoji="0" 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Šablon za automatsko kreiranje radnih naloga i faktura.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Time-off request (zahtev za odsustvom)</a:t>
            </a:r>
            <a:r>
              <a:rPr kumimoji="0" 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Prikazuje se u rasporedu kao zauzeće.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Purchase order (nabavka delova)</a:t>
            </a:r>
            <a:r>
              <a:rPr kumimoji="0" 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Za skladištenje ili direktnu prodaju.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transfer &amp; adjustment</a:t>
            </a:r>
            <a:r>
              <a:rPr kumimoji="0" 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Praćenje kretanja i korekcije zaliha.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Warehouse (skladište)</a:t>
            </a:r>
            <a:r>
              <a:rPr kumimoji="0" 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Može biti vozilo, prostorija, itd.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RMA &amp; RTV</a:t>
            </a:r>
            <a:r>
              <a:rPr kumimoji="0" 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Vraćanje opreme (kupcu, dobavljaču, ili za promenu vlasništva).</a:t>
            </a:r>
          </a:p>
        </p:txBody>
      </p:sp>
    </p:spTree>
    <p:extLst>
      <p:ext uri="{BB962C8B-B14F-4D97-AF65-F5344CB8AC3E}">
        <p14:creationId xmlns:p14="http://schemas.microsoft.com/office/powerpoint/2010/main" val="3639615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Lifecycle </a:t>
            </a:r>
            <a:r>
              <a:rPr lang="en-US" dirty="0" err="1" smtClean="0"/>
              <a:t>radnog</a:t>
            </a:r>
            <a:r>
              <a:rPr lang="en-US" dirty="0" smtClean="0"/>
              <a:t> </a:t>
            </a:r>
            <a:r>
              <a:rPr lang="en-US" dirty="0" err="1" smtClean="0"/>
              <a:t>naloga</a:t>
            </a:r>
            <a:r>
              <a:rPr lang="en-US" dirty="0" smtClean="0"/>
              <a:t> (Work Order Lifecycle)</a:t>
            </a:r>
            <a:endParaRPr lang="sr-Latn-R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Kreiranje</a:t>
            </a:r>
            <a:r>
              <a:rPr kumimoji="0" 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Ručno, iz ugovora, ili iz korisničkog slučaja (case).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Zakazivanje</a:t>
            </a:r>
            <a:r>
              <a:rPr kumimoji="0" 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Na raspored se dodaje ručno ili automatski (schedule assistant).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Dispečovanje</a:t>
            </a:r>
            <a:r>
              <a:rPr kumimoji="0" 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Tehničar odlazi na teren.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Odobravanje</a:t>
            </a:r>
            <a:r>
              <a:rPr kumimoji="0" 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Status menja menadžer.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Fakturisanje</a:t>
            </a:r>
            <a:r>
              <a:rPr kumimoji="0" 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Klijent se zadužuje.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Povraćaj</a:t>
            </a:r>
            <a:r>
              <a:rPr kumimoji="0" 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Delovi se mogu vratiti (RMA/RTV).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Ažuriranje zaliha</a:t>
            </a:r>
            <a:r>
              <a:rPr kumimoji="0" 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Korekcije posle upotrebe.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Kreditni izvod</a:t>
            </a:r>
            <a:r>
              <a:rPr kumimoji="0" lang="sr-Latn-R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Ako je deo vraćen, a bio fakturisan.</a:t>
            </a:r>
          </a:p>
        </p:txBody>
      </p:sp>
    </p:spTree>
    <p:extLst>
      <p:ext uri="{BB962C8B-B14F-4D97-AF65-F5344CB8AC3E}">
        <p14:creationId xmlns:p14="http://schemas.microsoft.com/office/powerpoint/2010/main" val="2856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 Administrativna podešavanja</a:t>
            </a:r>
            <a:endParaRPr lang="sr-Latn-R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38942" y="2204676"/>
            <a:ext cx="752321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Pristup kroz meni: </a:t>
            </a:r>
            <a:r>
              <a:rPr kumimoji="0" lang="sr-Latn-R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Settings &gt; Administration</a:t>
            </a:r>
            <a:r>
              <a:rPr kumimoji="0" 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Svaka ikonica vodi ka specifičnim podešavanjima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Field Service Settings</a:t>
            </a:r>
            <a:r>
              <a:rPr kumimoji="0" 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sadrže dodatne konfiguracije.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Preporuka: koristiti </a:t>
            </a:r>
            <a:r>
              <a:rPr kumimoji="0" lang="sr-Latn-R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sandbox okruženje</a:t>
            </a:r>
            <a:r>
              <a:rPr kumimoji="0" 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za testiranje pre produkcije.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Saradnja sa ovlašćenim partnerom ključna za uspešnu implementaciju.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517" y="3682004"/>
            <a:ext cx="5827276" cy="309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043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71" y="0"/>
            <a:ext cx="11385578" cy="6666643"/>
          </a:xfrm>
        </p:spPr>
      </p:pic>
    </p:spTree>
    <p:extLst>
      <p:ext uri="{BB962C8B-B14F-4D97-AF65-F5344CB8AC3E}">
        <p14:creationId xmlns:p14="http://schemas.microsoft.com/office/powerpoint/2010/main" val="3087128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Upravljanje radnim nalozima u Dynamics 365 for Field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r-Latn-RS" b="1" dirty="0" smtClean="0"/>
              <a:t>Kreiranje radnog naloga</a:t>
            </a:r>
          </a:p>
          <a:p>
            <a:r>
              <a:rPr lang="sr-Latn-RS" b="1" dirty="0" smtClean="0"/>
              <a:t>Uloga radnog naloga</a:t>
            </a:r>
            <a:r>
              <a:rPr lang="sr-Latn-RS" dirty="0" smtClean="0"/>
              <a:t>: Temeljni element za praćenje i obavljanje servisnih aktivnosti.</a:t>
            </a:r>
          </a:p>
          <a:p>
            <a:r>
              <a:rPr lang="sr-Latn-RS" b="1" dirty="0" smtClean="0"/>
              <a:t>Postupak</a:t>
            </a:r>
            <a:r>
              <a:rPr lang="sr-Latn-RS" dirty="0" smtClean="0"/>
              <a:t>:</a:t>
            </a:r>
          </a:p>
          <a:p>
            <a:pPr lvl="1"/>
            <a:r>
              <a:rPr lang="sr-Latn-RS" dirty="0" smtClean="0"/>
              <a:t>Odaberite </a:t>
            </a:r>
            <a:r>
              <a:rPr lang="sr-Latn-RS" b="1" dirty="0" smtClean="0"/>
              <a:t>Field Service</a:t>
            </a:r>
            <a:r>
              <a:rPr lang="sr-Latn-RS" dirty="0" smtClean="0"/>
              <a:t> modul u Dynamics 365.</a:t>
            </a:r>
          </a:p>
          <a:p>
            <a:pPr lvl="1"/>
            <a:r>
              <a:rPr lang="sr-Latn-RS" dirty="0" smtClean="0"/>
              <a:t>Kliknite na </a:t>
            </a:r>
            <a:r>
              <a:rPr lang="sr-Latn-RS" b="1" dirty="0" smtClean="0"/>
              <a:t>Work Orders</a:t>
            </a:r>
            <a:r>
              <a:rPr lang="sr-Latn-RS" dirty="0" smtClean="0"/>
              <a:t> i zatim na </a:t>
            </a:r>
            <a:r>
              <a:rPr lang="sr-Latn-RS" b="1" dirty="0" smtClean="0"/>
              <a:t>New</a:t>
            </a:r>
            <a:r>
              <a:rPr lang="sr-Latn-RS" dirty="0" smtClean="0"/>
              <a:t> za kreiranje novog radnog naloga.</a:t>
            </a:r>
          </a:p>
          <a:p>
            <a:pPr lvl="1"/>
            <a:r>
              <a:rPr lang="sr-Latn-RS" dirty="0" smtClean="0"/>
              <a:t>Unesite ključne informacije:</a:t>
            </a:r>
          </a:p>
          <a:p>
            <a:pPr lvl="2"/>
            <a:r>
              <a:rPr lang="sr-Latn-RS" b="1" dirty="0" smtClean="0"/>
              <a:t>Korisnički nalog</a:t>
            </a:r>
            <a:r>
              <a:rPr lang="sr-Latn-RS" dirty="0" smtClean="0"/>
              <a:t> (koji zahteva servis).</a:t>
            </a:r>
          </a:p>
          <a:p>
            <a:pPr lvl="2"/>
            <a:r>
              <a:rPr lang="sr-Latn-RS" b="1" dirty="0" smtClean="0"/>
              <a:t>Vrsta radnog naloga</a:t>
            </a:r>
            <a:r>
              <a:rPr lang="sr-Latn-RS" dirty="0" smtClean="0"/>
              <a:t> (tip servisa).</a:t>
            </a:r>
          </a:p>
          <a:p>
            <a:pPr lvl="2"/>
            <a:r>
              <a:rPr lang="sr-Latn-RS" b="1" dirty="0" smtClean="0"/>
              <a:t>Cenovnik</a:t>
            </a:r>
            <a:r>
              <a:rPr lang="sr-Latn-RS" dirty="0" smtClean="0"/>
              <a:t> za dodelu odgovarajuće cene.</a:t>
            </a:r>
          </a:p>
          <a:p>
            <a:pPr lvl="2"/>
            <a:r>
              <a:rPr lang="sr-Latn-RS" b="1" dirty="0" smtClean="0"/>
              <a:t>Vreme obećanog servisa</a:t>
            </a:r>
            <a:r>
              <a:rPr lang="sr-Latn-RS" dirty="0" smtClean="0"/>
              <a:t> za planiranje vremena obavljanja servisa.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197429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Upravljanje radnim nalozima u Dynamics 365 for Field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b="1" dirty="0" smtClean="0"/>
              <a:t>Dodavanje korisničke imovine</a:t>
            </a:r>
          </a:p>
          <a:p>
            <a:r>
              <a:rPr lang="sr-Latn-RS" b="1" dirty="0" smtClean="0"/>
              <a:t>Zašto je bitno?</a:t>
            </a:r>
            <a:endParaRPr lang="sr-Latn-RS" dirty="0" smtClean="0"/>
          </a:p>
          <a:p>
            <a:pPr lvl="1"/>
            <a:r>
              <a:rPr lang="sr-Latn-RS" dirty="0" smtClean="0"/>
              <a:t>Svaka </a:t>
            </a:r>
            <a:r>
              <a:rPr lang="sr-Latn-RS" b="1" dirty="0" smtClean="0"/>
              <a:t>korisnička imovina</a:t>
            </a:r>
            <a:r>
              <a:rPr lang="sr-Latn-RS" dirty="0" smtClean="0"/>
              <a:t> je oprema koja se servisira, pa je važno pratiti radne naloge vezane za nju.</a:t>
            </a:r>
          </a:p>
          <a:p>
            <a:pPr lvl="1"/>
            <a:r>
              <a:rPr lang="sr-Latn-RS" dirty="0" smtClean="0"/>
              <a:t>Omogućava </a:t>
            </a:r>
            <a:r>
              <a:rPr lang="sr-Latn-RS" b="1" dirty="0" smtClean="0"/>
              <a:t>povratne informacije</a:t>
            </a:r>
            <a:r>
              <a:rPr lang="sr-Latn-RS" dirty="0" smtClean="0"/>
              <a:t> i istoriju servisnih aktivnosti za bolje upravljanje imovinom.</a:t>
            </a:r>
          </a:p>
          <a:p>
            <a:r>
              <a:rPr lang="sr-Latn-RS" b="1" dirty="0" smtClean="0"/>
              <a:t>Postupak</a:t>
            </a:r>
            <a:r>
              <a:rPr lang="sr-Latn-RS" dirty="0" smtClean="0"/>
              <a:t>:</a:t>
            </a:r>
          </a:p>
          <a:p>
            <a:pPr lvl="1"/>
            <a:r>
              <a:rPr lang="sr-Latn-RS" dirty="0" smtClean="0"/>
              <a:t>Odaberite </a:t>
            </a:r>
            <a:r>
              <a:rPr lang="sr-Latn-RS" b="1" dirty="0" smtClean="0"/>
              <a:t>Customer Assets</a:t>
            </a:r>
            <a:r>
              <a:rPr lang="sr-Latn-RS" dirty="0" smtClean="0"/>
              <a:t> pod </a:t>
            </a:r>
            <a:r>
              <a:rPr lang="sr-Latn-RS" b="1" dirty="0" smtClean="0"/>
              <a:t>Service Delivery</a:t>
            </a:r>
            <a:r>
              <a:rPr lang="sr-Latn-RS" dirty="0" smtClean="0"/>
              <a:t>.</a:t>
            </a:r>
          </a:p>
          <a:p>
            <a:pPr lvl="1"/>
            <a:r>
              <a:rPr lang="sr-Latn-RS" dirty="0" smtClean="0"/>
              <a:t>Unesite naziv opreme i povezani </a:t>
            </a:r>
            <a:r>
              <a:rPr lang="sr-Latn-RS" b="1" dirty="0" smtClean="0"/>
              <a:t>korisnički nalog</a:t>
            </a:r>
            <a:r>
              <a:rPr lang="sr-Latn-RS" dirty="0" smtClean="0"/>
              <a:t>.</a:t>
            </a:r>
          </a:p>
          <a:p>
            <a:pPr lvl="1"/>
            <a:r>
              <a:rPr lang="sr-Latn-RS" dirty="0" smtClean="0"/>
              <a:t>Dodajte relevantne informacije o imovini.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4023631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Upravljanje radnim nalozima u Dynamics 365 for Field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b="1" dirty="0" smtClean="0"/>
              <a:t>Transfer inventara</a:t>
            </a:r>
          </a:p>
          <a:p>
            <a:r>
              <a:rPr lang="sr-Latn-RS" b="1" dirty="0" smtClean="0"/>
              <a:t>Efikasno upravljanje delovima</a:t>
            </a:r>
            <a:r>
              <a:rPr lang="sr-Latn-RS" dirty="0" smtClean="0"/>
              <a:t>: Prati se pomeranje inventara između skladišta kako bi se obezbedili potrebni delovi za servis.</a:t>
            </a:r>
          </a:p>
          <a:p>
            <a:r>
              <a:rPr lang="sr-Latn-RS" b="1" dirty="0" smtClean="0"/>
              <a:t>Postupak</a:t>
            </a:r>
            <a:r>
              <a:rPr lang="sr-Latn-RS" dirty="0" smtClean="0"/>
              <a:t>:</a:t>
            </a:r>
          </a:p>
          <a:p>
            <a:pPr lvl="1"/>
            <a:r>
              <a:rPr lang="sr-Latn-RS" dirty="0" smtClean="0"/>
              <a:t>Odaberite </a:t>
            </a:r>
            <a:r>
              <a:rPr lang="sr-Latn-RS" b="1" dirty="0" smtClean="0"/>
              <a:t>Inventory Transfers</a:t>
            </a:r>
            <a:r>
              <a:rPr lang="sr-Latn-RS" dirty="0" smtClean="0"/>
              <a:t> pod </a:t>
            </a:r>
            <a:r>
              <a:rPr lang="sr-Latn-RS" b="1" dirty="0" smtClean="0"/>
              <a:t>Inventory &amp; Purchasing</a:t>
            </a:r>
            <a:r>
              <a:rPr lang="sr-Latn-RS" dirty="0" smtClean="0"/>
              <a:t>.</a:t>
            </a:r>
          </a:p>
          <a:p>
            <a:pPr lvl="1"/>
            <a:r>
              <a:rPr lang="sr-Latn-RS" dirty="0" smtClean="0"/>
              <a:t>Unesite podatke o </a:t>
            </a:r>
            <a:r>
              <a:rPr lang="sr-Latn-RS" b="1" dirty="0" smtClean="0"/>
              <a:t>izvoru</a:t>
            </a:r>
            <a:r>
              <a:rPr lang="sr-Latn-RS" dirty="0" smtClean="0"/>
              <a:t> i </a:t>
            </a:r>
            <a:r>
              <a:rPr lang="sr-Latn-RS" b="1" dirty="0" smtClean="0"/>
              <a:t>odredištu skladišta</a:t>
            </a:r>
            <a:r>
              <a:rPr lang="sr-Latn-RS" dirty="0" smtClean="0"/>
              <a:t>.</a:t>
            </a:r>
          </a:p>
          <a:p>
            <a:pPr lvl="1"/>
            <a:r>
              <a:rPr lang="sr-Latn-RS" dirty="0" smtClean="0"/>
              <a:t>Obavezno evidentirajte sve promene u inventaru kako biste omogućili pravovremeno snabdevanje servisnih timova.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140584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Upravljanje radnim nalozima u Dynamics 365 for Field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b="1" dirty="0" smtClean="0"/>
              <a:t>Kritička zapažanja</a:t>
            </a:r>
          </a:p>
          <a:p>
            <a:r>
              <a:rPr lang="sr-Latn-RS" b="1" dirty="0" smtClean="0"/>
              <a:t>Poslovni i tehnički konteksti</a:t>
            </a:r>
            <a:r>
              <a:rPr lang="sr-Latn-RS" dirty="0" smtClean="0"/>
              <a:t>: Ovaj sistem pomaže u </a:t>
            </a:r>
            <a:r>
              <a:rPr lang="sr-Latn-RS" b="1" dirty="0" smtClean="0"/>
              <a:t>optimizaciji</a:t>
            </a:r>
            <a:r>
              <a:rPr lang="sr-Latn-RS" dirty="0" smtClean="0"/>
              <a:t> rada servisnih timova i upravljanju </a:t>
            </a:r>
            <a:r>
              <a:rPr lang="sr-Latn-RS" b="1" dirty="0" smtClean="0"/>
              <a:t>resursima</a:t>
            </a:r>
            <a:r>
              <a:rPr lang="sr-Latn-RS" dirty="0" smtClean="0"/>
              <a:t>.</a:t>
            </a:r>
          </a:p>
          <a:p>
            <a:r>
              <a:rPr lang="sr-Latn-RS" b="1" dirty="0" smtClean="0"/>
              <a:t>Glavne prednosti</a:t>
            </a:r>
            <a:r>
              <a:rPr lang="sr-Latn-RS" dirty="0" smtClean="0"/>
              <a:t>:</a:t>
            </a:r>
          </a:p>
          <a:p>
            <a:pPr lvl="1"/>
            <a:r>
              <a:rPr lang="sr-Latn-RS" b="1" dirty="0" smtClean="0"/>
              <a:t>Povećanje efikasnosti</a:t>
            </a:r>
            <a:r>
              <a:rPr lang="sr-Latn-RS" dirty="0" smtClean="0"/>
              <a:t> kroz bolje praćenje radnih naloga i inventara.</a:t>
            </a:r>
          </a:p>
          <a:p>
            <a:pPr lvl="1"/>
            <a:r>
              <a:rPr lang="sr-Latn-RS" dirty="0" smtClean="0"/>
              <a:t>Povezivanje poslovnih ciljeva i tehničkog sistema pomaže u donošenju informisanih odluka o implementaciji </a:t>
            </a:r>
            <a:r>
              <a:rPr lang="sr-Latn-RS" b="1" dirty="0" smtClean="0"/>
              <a:t>Field Service</a:t>
            </a:r>
            <a:r>
              <a:rPr lang="sr-Latn-RS" dirty="0" smtClean="0"/>
              <a:t> rešenja.</a:t>
            </a:r>
          </a:p>
          <a:p>
            <a:pPr lvl="1"/>
            <a:r>
              <a:rPr lang="sr-Latn-RS" b="1" dirty="0" smtClean="0"/>
              <a:t>Bolja usluga korisnicima</a:t>
            </a:r>
            <a:r>
              <a:rPr lang="sr-Latn-RS" dirty="0" smtClean="0"/>
              <a:t> zahvaljujući preciznom planiranju i manje grešaka u radu.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314695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072" y="628592"/>
            <a:ext cx="9900615" cy="5797146"/>
          </a:xfrm>
        </p:spPr>
      </p:pic>
    </p:spTree>
    <p:extLst>
      <p:ext uri="{BB962C8B-B14F-4D97-AF65-F5344CB8AC3E}">
        <p14:creationId xmlns:p14="http://schemas.microsoft.com/office/powerpoint/2010/main" val="314532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Zaključak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Korišćenje Dynamics 365 for Field Service omogućava organizacijama da efikasno upravljaju servisnim operacijama i optimizuju upotrebu resursa.</a:t>
            </a:r>
          </a:p>
          <a:p>
            <a:r>
              <a:rPr lang="sr-Latn-RS" dirty="0" smtClean="0"/>
              <a:t>Pravilno praćenje radnih naloga, imovine i inventara direktno poboljšava kvalitet usluga, smanjuje greške i povećava zadovoljstvo korisnika.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778200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Literatura i izvori</a:t>
            </a:r>
            <a:endParaRPr lang="sr-Latn-R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88699" y="2694516"/>
            <a:ext cx="649729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Microsoft Learn: </a:t>
            </a:r>
            <a:r>
              <a:rPr kumimoji="0" 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Dynamics 365 Field Service documentation</a:t>
            </a:r>
            <a:endParaRPr kumimoji="0" lang="sr-Latn-R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https://dynamics.microsoft.com/en-us/field-service/overview/</a:t>
            </a:r>
            <a:endParaRPr kumimoji="0" lang="sr-Latn-R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Primeri iz komercijalnih FSM rešenja (FieldOne)</a:t>
            </a:r>
          </a:p>
        </p:txBody>
      </p:sp>
    </p:spTree>
    <p:extLst>
      <p:ext uri="{BB962C8B-B14F-4D97-AF65-F5344CB8AC3E}">
        <p14:creationId xmlns:p14="http://schemas.microsoft.com/office/powerpoint/2010/main" val="364822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Kraj</a:t>
            </a:r>
            <a:endParaRPr lang="sr-Latn-R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Hvala na pažnji. Ako imate bilo kakvih pitanja ili želite dodatne informacije o implementaciji Dynamics 365 for Field Service, slobodno pitajte.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7782667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67</TotalTime>
  <Words>831</Words>
  <Application>Microsoft Office PowerPoint</Application>
  <PresentationFormat>Widescreen</PresentationFormat>
  <Paragraphs>98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Ion Boardroom</vt:lpstr>
      <vt:lpstr>Mobilno upravljanje terenskom službom </vt:lpstr>
      <vt:lpstr>FSM</vt:lpstr>
      <vt:lpstr>Microsoft</vt:lpstr>
      <vt:lpstr>Šema</vt:lpstr>
      <vt:lpstr>Upoznavanje sa ključnim komponentama Dynamics 365 for Field Service</vt:lpstr>
      <vt:lpstr>Ključne komponente</vt:lpstr>
      <vt:lpstr>Lifecycle radnog naloga (Work Order Lifecycle)</vt:lpstr>
      <vt:lpstr> Administrativna podešavanja</vt:lpstr>
      <vt:lpstr>PowerPoint Presentation</vt:lpstr>
      <vt:lpstr>Upravljanje radnim nalozima u Dynamics 365 for Field Service</vt:lpstr>
      <vt:lpstr>Upravljanje radnim nalozima u Dynamics 365 for Field Service</vt:lpstr>
      <vt:lpstr>Upravljanje radnim nalozima u Dynamics 365 for Field Service</vt:lpstr>
      <vt:lpstr>Upravljanje radnim nalozima u Dynamics 365 for Field Service</vt:lpstr>
      <vt:lpstr>PowerPoint Presentation</vt:lpstr>
      <vt:lpstr>Zaključak</vt:lpstr>
      <vt:lpstr>Literatura i izvori</vt:lpstr>
      <vt:lpstr>Kraj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Mobilne terenske servisne usluge</dc:title>
  <dc:creator>Microsoft account</dc:creator>
  <cp:lastModifiedBy>Microsoft account</cp:lastModifiedBy>
  <cp:revision>7</cp:revision>
  <dcterms:created xsi:type="dcterms:W3CDTF">2025-04-07T16:19:07Z</dcterms:created>
  <dcterms:modified xsi:type="dcterms:W3CDTF">2025-04-07T17:26:29Z</dcterms:modified>
</cp:coreProperties>
</file>