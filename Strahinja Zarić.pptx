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15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9782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52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75372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9697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04607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7218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8075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79874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69595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1328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C216DD6-554E-42F7-AC01-F1DEAE7FA056}" type="datetimeFigureOut">
              <a:rPr lang="sr-Latn-RS" smtClean="0"/>
              <a:t>12.5.2025.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633A8B-9BBC-4AF5-A9A4-18DA38396FE6}" type="slidenum">
              <a:rPr lang="sr-Latn-RS" smtClean="0"/>
              <a:t>‹#›</a:t>
            </a:fld>
            <a:endParaRPr lang="sr-Latn-R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56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51" y="2521250"/>
            <a:ext cx="12191999" cy="1793055"/>
          </a:xfrm>
        </p:spPr>
        <p:txBody>
          <a:bodyPr>
            <a:normAutofit fontScale="90000"/>
          </a:bodyPr>
          <a:lstStyle/>
          <a:p>
            <a:r>
              <a:rPr lang="sr-Latn-RS" dirty="0" smtClean="0"/>
              <a:t>Microsoft Dynamics 365: </a:t>
            </a:r>
            <a:r>
              <a:rPr lang="sr-Cyrl-RS" dirty="0" smtClean="0"/>
              <a:t>Решење за ланце снабдевања</a:t>
            </a:r>
            <a:r>
              <a:rPr lang="sr-Latn-RS" dirty="0" smtClean="0"/>
              <a:t/>
            </a:r>
            <a:br>
              <a:rPr lang="sr-Latn-RS" dirty="0" smtClean="0"/>
            </a:br>
            <a:r>
              <a:rPr lang="ru-RU" dirty="0" smtClean="0"/>
              <a:t>Дигитална трансформација пољопривредних концерна</a:t>
            </a:r>
            <a:endParaRPr lang="sr-Latn-R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Cyrl-RS" dirty="0" smtClean="0"/>
              <a:t>Страхиња Зарић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73194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Изазови у пољопривредним ланцима снабдевања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Главни изазови</a:t>
            </a:r>
            <a:r>
              <a:rPr lang="ru-RU" dirty="0" smtClean="0"/>
              <a:t>: </a:t>
            </a:r>
            <a:endParaRPr lang="sr-Latn-RS" dirty="0" smtClean="0"/>
          </a:p>
          <a:p>
            <a:pPr lvl="1"/>
            <a:r>
              <a:rPr lang="ru-RU" dirty="0" smtClean="0"/>
              <a:t>Комплексност управљања</a:t>
            </a:r>
          </a:p>
          <a:p>
            <a:pPr lvl="1"/>
            <a:r>
              <a:rPr lang="ru-RU" dirty="0" smtClean="0"/>
              <a:t>Потреба за реалновременским увидом</a:t>
            </a:r>
          </a:p>
          <a:p>
            <a:pPr lvl="1"/>
            <a:r>
              <a:rPr lang="ru-RU" dirty="0" smtClean="0"/>
              <a:t>Усклађивање различитих пословних процеса</a:t>
            </a:r>
          </a:p>
          <a:p>
            <a:r>
              <a:rPr lang="sr-Cyrl-RS" dirty="0" smtClean="0"/>
              <a:t>„</a:t>
            </a:r>
            <a:r>
              <a:rPr lang="ru-RU" dirty="0" smtClean="0"/>
              <a:t>Дигитализација је кључ опстанка у модерном пољопривредном пословању</a:t>
            </a:r>
            <a:r>
              <a:rPr lang="sr-Cyrl-RS" dirty="0" smtClean="0"/>
              <a:t>“</a:t>
            </a:r>
            <a:r>
              <a:rPr lang="ru-RU" dirty="0" smtClean="0"/>
              <a:t> - Извор: Forrester Research, 202</a:t>
            </a:r>
            <a:r>
              <a:rPr lang="sr-Latn-RS" dirty="0" smtClean="0"/>
              <a:t>4.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59248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495155"/>
            <a:ext cx="8211696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6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Microsoft Dynamics 365: </a:t>
            </a:r>
            <a:r>
              <a:rPr lang="sr-Cyrl-RS" dirty="0" smtClean="0"/>
              <a:t>Стратешко решење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Кључне предности за пољопривредне концерне: </a:t>
            </a:r>
          </a:p>
          <a:p>
            <a:pPr lvl="1"/>
            <a:r>
              <a:rPr lang="ru-RU" dirty="0" smtClean="0"/>
              <a:t>Интегрисано управљање ресурсима</a:t>
            </a:r>
          </a:p>
          <a:p>
            <a:pPr lvl="1"/>
            <a:r>
              <a:rPr lang="ru-RU" dirty="0" smtClean="0"/>
              <a:t>Аутоматизација пословних процеса</a:t>
            </a:r>
          </a:p>
          <a:p>
            <a:pPr lvl="1"/>
            <a:r>
              <a:rPr lang="ru-RU" dirty="0" smtClean="0"/>
              <a:t>Предиктивна аналитика</a:t>
            </a:r>
          </a:p>
          <a:p>
            <a:r>
              <a:rPr lang="sr-Cyrl-RS" dirty="0" smtClean="0"/>
              <a:t>„Технологија мења пољопривреду брже него икада</a:t>
            </a:r>
            <a:r>
              <a:rPr lang="sr-Cyrl-RS" dirty="0" smtClean="0"/>
              <a:t> “</a:t>
            </a:r>
            <a:r>
              <a:rPr lang="sr-Cyrl-RS" dirty="0" smtClean="0"/>
              <a:t> - </a:t>
            </a:r>
            <a:r>
              <a:rPr lang="sr-Latn-RS" dirty="0" smtClean="0"/>
              <a:t>Harvard Business Review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307377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Функционалности за ланце снабдевања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Модули специфични за пољопривредни сектор: </a:t>
            </a:r>
          </a:p>
          <a:p>
            <a:pPr lvl="1"/>
            <a:r>
              <a:rPr lang="ru-RU" dirty="0" smtClean="0"/>
              <a:t>Управљање залихама</a:t>
            </a:r>
          </a:p>
          <a:p>
            <a:pPr lvl="1"/>
            <a:r>
              <a:rPr lang="ru-RU" dirty="0" smtClean="0"/>
              <a:t>Праћење производње</a:t>
            </a:r>
          </a:p>
          <a:p>
            <a:pPr lvl="1"/>
            <a:r>
              <a:rPr lang="ru-RU" dirty="0" smtClean="0"/>
              <a:t>Планирање дистрибуције</a:t>
            </a:r>
          </a:p>
          <a:p>
            <a:pPr lvl="1"/>
            <a:r>
              <a:rPr lang="ru-RU" dirty="0" smtClean="0"/>
              <a:t>Управљање добављачима</a:t>
            </a:r>
          </a:p>
          <a:p>
            <a:endParaRPr lang="sr-Latn-R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350" y="2568632"/>
            <a:ext cx="6681963" cy="381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40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Аутоматизација пословних процеса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Примери аутоматизације: </a:t>
            </a:r>
          </a:p>
          <a:p>
            <a:pPr lvl="1"/>
            <a:r>
              <a:rPr lang="ru-RU" dirty="0" smtClean="0"/>
              <a:t>Праћење пољопривредних производа од поља до трžишта</a:t>
            </a:r>
          </a:p>
          <a:p>
            <a:pPr lvl="1"/>
            <a:r>
              <a:rPr lang="ru-RU" dirty="0" smtClean="0"/>
              <a:t>Аутоматско планирање набавки</a:t>
            </a:r>
          </a:p>
          <a:p>
            <a:pPr lvl="1"/>
            <a:r>
              <a:rPr lang="ru-RU" dirty="0" smtClean="0"/>
              <a:t>Реалновременско управљање залихама</a:t>
            </a:r>
          </a:p>
          <a:p>
            <a:r>
              <a:rPr lang="sr-Cyrl-RS" dirty="0" smtClean="0"/>
              <a:t>„Аутоматизација није замена за људе, већ алат за њихово оснаживање“ - </a:t>
            </a:r>
            <a:r>
              <a:rPr lang="sr-Latn-RS" dirty="0" smtClean="0"/>
              <a:t>MIT Technology Review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67941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Управљање залихама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Напредне могућности: </a:t>
            </a:r>
          </a:p>
          <a:p>
            <a:pPr lvl="1"/>
            <a:r>
              <a:rPr lang="ru-RU" dirty="0" smtClean="0"/>
              <a:t>Предвиђање потражње</a:t>
            </a:r>
          </a:p>
          <a:p>
            <a:pPr lvl="1"/>
            <a:r>
              <a:rPr lang="ru-RU" dirty="0" smtClean="0"/>
              <a:t>Оптимизација залиха</a:t>
            </a:r>
          </a:p>
          <a:p>
            <a:pPr lvl="1"/>
            <a:r>
              <a:rPr lang="ru-RU" dirty="0" smtClean="0"/>
              <a:t>Смањење трошкова</a:t>
            </a:r>
          </a:p>
          <a:p>
            <a:endParaRPr lang="sr-Latn-R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854" y="1690688"/>
            <a:ext cx="6306673" cy="393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7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Праћење и извештавање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Кључни показатељи успешности (KPI): </a:t>
            </a:r>
          </a:p>
          <a:p>
            <a:pPr lvl="1"/>
            <a:r>
              <a:rPr lang="ru-RU" dirty="0" smtClean="0"/>
              <a:t>Ефикасност ланца снабдевања</a:t>
            </a:r>
          </a:p>
          <a:p>
            <a:pPr lvl="1"/>
            <a:r>
              <a:rPr lang="ru-RU" dirty="0" smtClean="0"/>
              <a:t>Трошкови дистрибуције</a:t>
            </a:r>
          </a:p>
          <a:p>
            <a:pPr lvl="1"/>
            <a:r>
              <a:rPr lang="ru-RU" dirty="0" smtClean="0"/>
              <a:t>Квалитет производа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89098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Интеграција са другим системима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Повезивање са: </a:t>
            </a:r>
          </a:p>
          <a:p>
            <a:pPr lvl="1"/>
            <a:r>
              <a:rPr lang="ru-RU" dirty="0" smtClean="0"/>
              <a:t>Системима за управљање фармама</a:t>
            </a:r>
          </a:p>
          <a:p>
            <a:pPr lvl="1"/>
            <a:r>
              <a:rPr lang="ru-RU" dirty="0" smtClean="0"/>
              <a:t>Метеоролошким сервисима</a:t>
            </a:r>
          </a:p>
          <a:p>
            <a:pPr lvl="1"/>
            <a:r>
              <a:rPr lang="ru-RU" dirty="0" smtClean="0"/>
              <a:t>Тржишним платформама</a:t>
            </a:r>
          </a:p>
          <a:p>
            <a:endParaRPr lang="sr-Latn-R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91" y="2884515"/>
            <a:ext cx="5289520" cy="309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Предности за пољопривредни концерн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Повећање продуктивности</a:t>
            </a:r>
          </a:p>
          <a:p>
            <a:r>
              <a:rPr lang="ru-RU" dirty="0" smtClean="0"/>
              <a:t>Смањење оперативних трошкова</a:t>
            </a:r>
          </a:p>
          <a:p>
            <a:r>
              <a:rPr lang="ru-RU" dirty="0" smtClean="0"/>
              <a:t>Боље стратешко планирање</a:t>
            </a:r>
          </a:p>
          <a:p>
            <a:r>
              <a:rPr lang="ru-RU" dirty="0" smtClean="0"/>
              <a:t>Брже доношење одлука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36986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Студија случаја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Пример успешне имплементације</a:t>
            </a:r>
          </a:p>
          <a:p>
            <a:r>
              <a:rPr lang="ru-RU" dirty="0" smtClean="0"/>
              <a:t>Резултати пре и после увођења система</a:t>
            </a:r>
          </a:p>
          <a:p>
            <a:endParaRPr lang="sr-Latn-R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161" y="1987050"/>
            <a:ext cx="5102519" cy="374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73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Технички преглед решења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Архитектура система</a:t>
            </a:r>
          </a:p>
          <a:p>
            <a:r>
              <a:rPr lang="ru-RU" dirty="0" smtClean="0"/>
              <a:t>Безбедност података</a:t>
            </a:r>
          </a:p>
          <a:p>
            <a:r>
              <a:rPr lang="ru-RU" dirty="0" smtClean="0"/>
              <a:t>Могућности прилагођавања</a:t>
            </a:r>
          </a:p>
          <a:p>
            <a:r>
              <a:rPr lang="ru-RU" dirty="0" smtClean="0"/>
              <a:t>"Сигурност података је темељ дигиталне трансформације" - Gartner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867856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Имплементација и подршка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Фазе имплементације</a:t>
            </a:r>
          </a:p>
          <a:p>
            <a:r>
              <a:rPr lang="ru-RU" dirty="0" smtClean="0"/>
              <a:t>Обука запослених</a:t>
            </a:r>
          </a:p>
          <a:p>
            <a:r>
              <a:rPr lang="ru-RU" dirty="0" smtClean="0"/>
              <a:t>Континуирана подршка</a:t>
            </a:r>
          </a:p>
          <a:p>
            <a:endParaRPr lang="sr-Latn-R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83" y="2693322"/>
            <a:ext cx="4460825" cy="313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77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Економска исплативост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Cyrl-RS" b="1" dirty="0"/>
              <a:t>Кључни подаци:</a:t>
            </a:r>
            <a:endParaRPr lang="sr-Cyrl-RS" dirty="0"/>
          </a:p>
          <a:p>
            <a:pPr lvl="1"/>
            <a:r>
              <a:rPr lang="sr-Cyrl-RS" dirty="0"/>
              <a:t>Поврат инвестиције: </a:t>
            </a:r>
            <a:r>
              <a:rPr lang="sr-Cyrl-RS" b="1" dirty="0"/>
              <a:t>8-12 месеци</a:t>
            </a:r>
            <a:endParaRPr lang="sr-Cyrl-RS" dirty="0"/>
          </a:p>
          <a:p>
            <a:pPr lvl="1"/>
            <a:r>
              <a:rPr lang="sr-Cyrl-RS" dirty="0"/>
              <a:t>Просечне годишње уштеде: </a:t>
            </a:r>
            <a:r>
              <a:rPr lang="sr-Cyrl-RS" b="1" dirty="0"/>
              <a:t>30-40%</a:t>
            </a:r>
            <a:endParaRPr lang="sr-Cyrl-RS" dirty="0"/>
          </a:p>
          <a:p>
            <a:pPr lvl="1"/>
            <a:r>
              <a:rPr lang="sr-Cyrl-RS" dirty="0"/>
              <a:t>Смањење трошкова дистрибуције: </a:t>
            </a:r>
            <a:r>
              <a:rPr lang="sr-Cyrl-RS" b="1" dirty="0"/>
              <a:t>30%</a:t>
            </a:r>
            <a:endParaRPr lang="sr-Cyrl-RS" dirty="0"/>
          </a:p>
          <a:p>
            <a:pPr lvl="1"/>
            <a:r>
              <a:rPr lang="sr-Cyrl-RS" dirty="0"/>
              <a:t>Смањење губитака у залихама: </a:t>
            </a:r>
            <a:r>
              <a:rPr lang="sr-Cyrl-RS" b="1" dirty="0"/>
              <a:t>67%</a:t>
            </a:r>
            <a:endParaRPr lang="sr-Cyrl-RS" dirty="0"/>
          </a:p>
          <a:p>
            <a:r>
              <a:rPr lang="sr-Cyrl-RS" b="1" dirty="0"/>
              <a:t>Дугорочне предности:</a:t>
            </a:r>
            <a:endParaRPr lang="sr-Cyrl-RS" dirty="0"/>
          </a:p>
          <a:p>
            <a:pPr lvl="1"/>
            <a:r>
              <a:rPr lang="sr-Cyrl-RS" dirty="0"/>
              <a:t>Боља конкурентност на тржишту</a:t>
            </a:r>
          </a:p>
          <a:p>
            <a:pPr lvl="1"/>
            <a:r>
              <a:rPr lang="sr-Cyrl-RS" dirty="0"/>
              <a:t>Флексибилност у променама тржишних услова</a:t>
            </a:r>
          </a:p>
          <a:p>
            <a:pPr lvl="1"/>
            <a:r>
              <a:rPr lang="sr-Cyrl-RS" dirty="0"/>
              <a:t>Предиктивније планирање производње</a:t>
            </a:r>
          </a:p>
          <a:p>
            <a:r>
              <a:rPr lang="sr-Cyrl-RS" dirty="0"/>
              <a:t>"Технологија која штеди новац јесте технологија вредна улагања" - </a:t>
            </a:r>
            <a:r>
              <a:rPr lang="sr-Latn-RS" dirty="0"/>
              <a:t>Forbes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564634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Буд</a:t>
            </a:r>
            <a:r>
              <a:rPr lang="sr-Latn-RS" dirty="0" smtClean="0"/>
              <a:t>u</a:t>
            </a:r>
            <a:r>
              <a:rPr lang="sr-Cyrl-RS" dirty="0" smtClean="0"/>
              <a:t>ћност ланаца снабдевања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Кључни трендови:</a:t>
            </a:r>
            <a:endParaRPr lang="ru-RU" dirty="0"/>
          </a:p>
          <a:p>
            <a:pPr lvl="1"/>
            <a:r>
              <a:rPr lang="ru-RU" b="1" dirty="0"/>
              <a:t>Дигитализација процеса</a:t>
            </a:r>
            <a:r>
              <a:rPr lang="ru-RU" dirty="0"/>
              <a:t> - од поља до тржишта</a:t>
            </a:r>
          </a:p>
          <a:p>
            <a:pPr lvl="1"/>
            <a:r>
              <a:rPr lang="ru-RU" b="1" dirty="0"/>
              <a:t>Интелигентни сензори</a:t>
            </a:r>
            <a:r>
              <a:rPr lang="ru-RU" dirty="0"/>
              <a:t> - праћење услова у реалном времену</a:t>
            </a:r>
          </a:p>
          <a:p>
            <a:pPr lvl="1"/>
            <a:r>
              <a:rPr lang="ru-RU" b="1" dirty="0"/>
              <a:t>Блокчејн технологија</a:t>
            </a:r>
            <a:r>
              <a:rPr lang="ru-RU" dirty="0"/>
              <a:t> - транспарентност у ланцу снабдевања</a:t>
            </a:r>
          </a:p>
          <a:p>
            <a:r>
              <a:rPr lang="ru-RU" b="1" dirty="0"/>
              <a:t>Вештачка интелигенција:</a:t>
            </a:r>
            <a:endParaRPr lang="ru-RU" dirty="0"/>
          </a:p>
          <a:p>
            <a:pPr lvl="1"/>
            <a:r>
              <a:rPr lang="ru-RU" dirty="0"/>
              <a:t>Предикција потражње и оптимални временски рокови</a:t>
            </a:r>
          </a:p>
          <a:p>
            <a:pPr lvl="1"/>
            <a:r>
              <a:rPr lang="ru-RU" dirty="0"/>
              <a:t>Аутоматско управљање залихама</a:t>
            </a:r>
          </a:p>
          <a:p>
            <a:pPr lvl="1"/>
            <a:r>
              <a:rPr lang="ru-RU" dirty="0"/>
              <a:t>Прецизна анализа климатских услова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262405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Закључак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b="1" dirty="0"/>
              <a:t>Microsoft Dynamics 365 </a:t>
            </a:r>
            <a:r>
              <a:rPr lang="sr-Cyrl-RS" b="1" dirty="0"/>
              <a:t>редефинише пољопривредне ланце снабдевања</a:t>
            </a:r>
            <a:endParaRPr lang="sr-Cyrl-RS" dirty="0"/>
          </a:p>
          <a:p>
            <a:r>
              <a:rPr lang="sr-Cyrl-RS" dirty="0"/>
              <a:t>Кључна достигнућа</a:t>
            </a:r>
            <a:r>
              <a:rPr lang="sr-Cyrl-RS" dirty="0" smtClean="0"/>
              <a:t>:</a:t>
            </a:r>
          </a:p>
          <a:p>
            <a:pPr lvl="1"/>
            <a:r>
              <a:rPr lang="sr-Cyrl-RS" b="1" dirty="0" smtClean="0"/>
              <a:t>Оптимизовани процеси</a:t>
            </a:r>
            <a:r>
              <a:rPr lang="sr-Cyrl-RS" dirty="0" smtClean="0"/>
              <a:t> - смањење трошкова до 40%</a:t>
            </a:r>
          </a:p>
          <a:p>
            <a:pPr lvl="1"/>
            <a:r>
              <a:rPr lang="sr-Cyrl-RS" b="1" dirty="0" smtClean="0"/>
              <a:t>Реална контрола</a:t>
            </a:r>
            <a:r>
              <a:rPr lang="sr-Cyrl-RS" dirty="0" smtClean="0"/>
              <a:t> - прецизно управљање залихама и дистрибуцијом</a:t>
            </a:r>
          </a:p>
          <a:p>
            <a:pPr lvl="1"/>
            <a:r>
              <a:rPr lang="sr-Cyrl-RS" b="1" dirty="0" smtClean="0"/>
              <a:t>Будућа подршка</a:t>
            </a:r>
            <a:r>
              <a:rPr lang="sr-Cyrl-RS" dirty="0" smtClean="0"/>
              <a:t> - интеграција </a:t>
            </a:r>
            <a:r>
              <a:rPr lang="sr-Latn-RS" dirty="0" smtClean="0"/>
              <a:t>AI </a:t>
            </a:r>
            <a:r>
              <a:rPr lang="sr-Cyrl-RS" dirty="0" smtClean="0"/>
              <a:t>и </a:t>
            </a:r>
            <a:r>
              <a:rPr lang="sr-Latn-RS" dirty="0" smtClean="0"/>
              <a:t>IoT </a:t>
            </a:r>
            <a:r>
              <a:rPr lang="sr-Cyrl-RS" dirty="0" smtClean="0"/>
              <a:t>за још већу ефикасност</a:t>
            </a:r>
            <a:endParaRPr lang="sr-Cyrl-RS" dirty="0"/>
          </a:p>
          <a:p>
            <a:r>
              <a:rPr lang="sr-Cyrl-RS" dirty="0"/>
              <a:t>"Инвестиција у дигиталну трансформацију није само унапређење система, већ и стратешка одлука за одржив развој пољопривредног бизниса."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498311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Извори и референце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Forrester Research (2024)</a:t>
            </a:r>
          </a:p>
          <a:p>
            <a:r>
              <a:rPr lang="en-US" dirty="0" smtClean="0"/>
              <a:t>Harvard Business Review</a:t>
            </a:r>
          </a:p>
          <a:p>
            <a:r>
              <a:rPr lang="en-US" dirty="0" smtClean="0"/>
              <a:t>MIT Technology Review</a:t>
            </a:r>
          </a:p>
          <a:p>
            <a:r>
              <a:rPr lang="en-US" dirty="0" smtClean="0"/>
              <a:t>World Economic Forum</a:t>
            </a:r>
          </a:p>
          <a:p>
            <a:r>
              <a:rPr lang="en-US" dirty="0" smtClean="0"/>
              <a:t>Gartner</a:t>
            </a:r>
          </a:p>
          <a:p>
            <a:r>
              <a:rPr lang="en-US" dirty="0" smtClean="0"/>
              <a:t>Forbes</a:t>
            </a:r>
          </a:p>
          <a:p>
            <a:r>
              <a:rPr lang="en-US" dirty="0" smtClean="0"/>
              <a:t>National Geographic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2266160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</TotalTime>
  <Words>281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Retrospect</vt:lpstr>
      <vt:lpstr>Microsoft Dynamics 365: Решење за ланце снабдевања Дигитална трансформација пољопривредних концерна</vt:lpstr>
      <vt:lpstr>Изазови у пољопривредним ланцима снабдевања</vt:lpstr>
      <vt:lpstr>PowerPoint Presentation</vt:lpstr>
      <vt:lpstr>Microsoft Dynamics 365: Стратешко решење</vt:lpstr>
      <vt:lpstr>Функционалности за ланце снабдевања</vt:lpstr>
      <vt:lpstr>Аутоматизација пословних процеса</vt:lpstr>
      <vt:lpstr>Управљање залихама</vt:lpstr>
      <vt:lpstr>Праћење и извештавање</vt:lpstr>
      <vt:lpstr>Интеграција са другим системима</vt:lpstr>
      <vt:lpstr>Предности за пољопривредни концерн</vt:lpstr>
      <vt:lpstr>Студија случаја</vt:lpstr>
      <vt:lpstr>Технички преглед решења</vt:lpstr>
      <vt:lpstr>Имплементација и подршка</vt:lpstr>
      <vt:lpstr>Економска исплативост</vt:lpstr>
      <vt:lpstr>Будuћност ланаца снабдевања</vt:lpstr>
      <vt:lpstr>Закључак</vt:lpstr>
      <vt:lpstr>Извори и референце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Dynamics 365: Решење за ланце снабдевања Дигитална трансформација пољопривредних концерна</dc:title>
  <dc:creator>Microsoft account</dc:creator>
  <cp:lastModifiedBy>Microsoft account</cp:lastModifiedBy>
  <cp:revision>4</cp:revision>
  <dcterms:created xsi:type="dcterms:W3CDTF">2025-05-12T15:45:05Z</dcterms:created>
  <dcterms:modified xsi:type="dcterms:W3CDTF">2025-05-12T16:24:43Z</dcterms:modified>
</cp:coreProperties>
</file>