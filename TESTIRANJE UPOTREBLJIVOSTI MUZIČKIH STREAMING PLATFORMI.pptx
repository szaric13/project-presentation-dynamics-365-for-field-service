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4" r:id="rId14"/>
    <p:sldId id="270" r:id="rId15"/>
    <p:sldId id="272" r:id="rId16"/>
    <p:sldId id="271" r:id="rId17"/>
    <p:sldId id="267" r:id="rId18"/>
    <p:sldId id="268" r:id="rId19"/>
    <p:sldId id="275" r:id="rId20"/>
    <p:sldId id="276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6" d="100"/>
          <a:sy n="86" d="100"/>
        </p:scale>
        <p:origin x="1494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2348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1644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10931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4924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6155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988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190899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4658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75845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8706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603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25340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997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99006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63367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0706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A2C0D-962F-4426-973B-D760190DB97B}" type="datetimeFigureOut">
              <a:rPr lang="sr-Latn-RS" smtClean="0"/>
              <a:t>7.5.2025.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9A4A6EC-5D0E-4D67-9748-CD5348B9D0F6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9529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open.spotify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deezer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music.youtub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soundcloud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sm8TvFBLLKr-ZowUO1bjoMUMFx_liDVUpACy6Zel-3YLJPA/viewform?usp=heade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 smtClean="0"/>
              <a:t>TESTIRANJE UPOTREBLJIVOSTI MUZIČKIH STREAMING PLATFORMI</a:t>
            </a:r>
            <a:endParaRPr lang="sr-Latn-R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 smtClean="0"/>
              <a:t>Strahinja Zarić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5826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MUZIČKI STREAMING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029523"/>
            <a:ext cx="10358285" cy="3761678"/>
          </a:xfrm>
        </p:spPr>
        <p:txBody>
          <a:bodyPr>
            <a:normAutofit fontScale="70000" lnSpcReduction="20000"/>
          </a:bodyPr>
          <a:lstStyle/>
          <a:p>
            <a:r>
              <a:rPr lang="sr-Latn-RS" b="1" dirty="0" smtClean="0"/>
              <a:t>Evolucija muzičkog streaminga</a:t>
            </a:r>
          </a:p>
          <a:p>
            <a:pPr lvl="1"/>
            <a:r>
              <a:rPr lang="sr-Latn-RS" dirty="0" smtClean="0"/>
              <a:t>Od fizičkih medija (CD, kaseta) do digitalnih datoteka (MP3)</a:t>
            </a:r>
          </a:p>
          <a:p>
            <a:pPr lvl="1"/>
            <a:r>
              <a:rPr lang="sr-Latn-RS" dirty="0" smtClean="0"/>
              <a:t>Prelazak sa preuzimanja na streaming (2010+)</a:t>
            </a:r>
          </a:p>
          <a:p>
            <a:pPr lvl="1"/>
            <a:r>
              <a:rPr lang="sr-Latn-RS" dirty="0" smtClean="0"/>
              <a:t>Eksplozija streaming servisa u poslednjoj deceniji</a:t>
            </a:r>
          </a:p>
          <a:p>
            <a:r>
              <a:rPr lang="sr-Latn-RS" b="1" dirty="0" smtClean="0"/>
              <a:t>Ključne karakteristike savremenih muzičkih platformi</a:t>
            </a:r>
          </a:p>
          <a:p>
            <a:pPr lvl="1"/>
            <a:r>
              <a:rPr lang="sr-Latn-RS" dirty="0" smtClean="0"/>
              <a:t>Pristup milionima numera na zahtev</a:t>
            </a:r>
          </a:p>
          <a:p>
            <a:pPr lvl="1"/>
            <a:r>
              <a:rPr lang="sr-Latn-RS" dirty="0" smtClean="0"/>
              <a:t>Personalizovane preporuke kroz algoritme</a:t>
            </a:r>
          </a:p>
          <a:p>
            <a:pPr lvl="1"/>
            <a:r>
              <a:rPr lang="sr-Latn-RS" dirty="0" smtClean="0"/>
              <a:t>Integracija sa društvenim mrežama</a:t>
            </a:r>
          </a:p>
          <a:p>
            <a:pPr lvl="1"/>
            <a:r>
              <a:rPr lang="sr-Latn-RS" dirty="0" smtClean="0"/>
              <a:t>Višeplatformska dostupnost (desktop, mobilni, smart uređaji)</a:t>
            </a:r>
          </a:p>
          <a:p>
            <a:pPr lvl="1"/>
            <a:r>
              <a:rPr lang="sr-Latn-RS" dirty="0" smtClean="0"/>
              <a:t>Modeli pretplate vs. besplatni modeli sa oglasima</a:t>
            </a:r>
          </a:p>
          <a:p>
            <a:r>
              <a:rPr lang="sr-Latn-RS" b="1" dirty="0" smtClean="0"/>
              <a:t>Značaj industrije danas</a:t>
            </a:r>
          </a:p>
          <a:p>
            <a:pPr lvl="1"/>
            <a:r>
              <a:rPr lang="sr-Latn-RS" dirty="0" smtClean="0"/>
              <a:t>Globalno tržište vredno preko 30 milijardi dolara godišnje</a:t>
            </a:r>
          </a:p>
          <a:p>
            <a:pPr lvl="1"/>
            <a:r>
              <a:rPr lang="sr-Latn-RS" dirty="0" smtClean="0"/>
              <a:t>Preko 600 miliona korisnika širom sveta</a:t>
            </a:r>
          </a:p>
          <a:p>
            <a:pPr lvl="1"/>
            <a:r>
              <a:rPr lang="sr-Latn-RS" dirty="0" smtClean="0"/>
              <a:t>Ključni izvor prihoda za muzičku industriju</a:t>
            </a:r>
          </a:p>
          <a:p>
            <a:endParaRPr lang="sr-Latn-RS" dirty="0"/>
          </a:p>
        </p:txBody>
      </p:sp>
      <p:pic>
        <p:nvPicPr>
          <p:cNvPr id="1026" name="Picture 2" descr="Comparing Music Streaming Services in 2025 - by Peter Ca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312" y="4622800"/>
            <a:ext cx="3973688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61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ZAŠTO TESTIRATI UPOTREBLJIVOST MUZIČKIH PLATFORMI?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 smtClean="0"/>
              <a:t>Konkurentno tržište</a:t>
            </a:r>
          </a:p>
          <a:p>
            <a:pPr lvl="1"/>
            <a:r>
              <a:rPr lang="sr-Latn-RS" dirty="0" smtClean="0"/>
              <a:t>Zasićeno tržište sa više velikih i mnogim manjim igračima</a:t>
            </a:r>
          </a:p>
          <a:p>
            <a:pPr lvl="1"/>
            <a:r>
              <a:rPr lang="sr-Latn-RS" dirty="0" smtClean="0"/>
              <a:t>Relativno niski troškovi prelaska sa jedne platforme na drugu</a:t>
            </a:r>
          </a:p>
          <a:p>
            <a:pPr lvl="1"/>
            <a:r>
              <a:rPr lang="sr-Latn-RS" dirty="0" smtClean="0"/>
              <a:t>Upotrebljivost kao ključna konkurentska prednost</a:t>
            </a:r>
          </a:p>
          <a:p>
            <a:r>
              <a:rPr lang="sr-Latn-RS" b="1" dirty="0" smtClean="0"/>
              <a:t>Složeni korisnički zadaci</a:t>
            </a:r>
          </a:p>
          <a:p>
            <a:pPr lvl="1"/>
            <a:r>
              <a:rPr lang="sr-Latn-RS" dirty="0" smtClean="0"/>
              <a:t>Pretraga u ogromnim katalozima (50+ miliona pesama)</a:t>
            </a:r>
          </a:p>
          <a:p>
            <a:pPr lvl="1"/>
            <a:r>
              <a:rPr lang="sr-Latn-RS" dirty="0" smtClean="0"/>
              <a:t>Navigacija kroz različite žanrove i preporuke</a:t>
            </a:r>
          </a:p>
          <a:p>
            <a:pPr lvl="1"/>
            <a:r>
              <a:rPr lang="sr-Latn-RS" dirty="0" smtClean="0"/>
              <a:t>Kreiranje i upravljanje ličnim bibliotekama i plejlistama</a:t>
            </a:r>
          </a:p>
          <a:p>
            <a:r>
              <a:rPr lang="sr-Latn-RS" b="1" dirty="0" smtClean="0"/>
              <a:t>Relevantnost za korisnike</a:t>
            </a:r>
          </a:p>
          <a:p>
            <a:pPr lvl="1"/>
            <a:r>
              <a:rPr lang="sr-Latn-RS" dirty="0" smtClean="0"/>
              <a:t>Prosečni korisnik provodi 25+ sati mesečno na muzičkim platformama</a:t>
            </a:r>
          </a:p>
          <a:p>
            <a:pPr lvl="1"/>
            <a:r>
              <a:rPr lang="sr-Latn-RS" dirty="0" smtClean="0"/>
              <a:t>67% korisnika navodi jednostavnost korišćenja kao ključni faktor</a:t>
            </a:r>
          </a:p>
          <a:p>
            <a:pPr lvl="1"/>
            <a:r>
              <a:rPr lang="sr-Latn-RS" dirty="0" smtClean="0"/>
              <a:t>78% korisnika očekuje personalizovane preporuke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9937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ODABRANE PLATFORME ZA TESTIRANJE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9573" y="1264555"/>
            <a:ext cx="10078574" cy="5805318"/>
          </a:xfrm>
        </p:spPr>
        <p:txBody>
          <a:bodyPr>
            <a:normAutofit fontScale="77500" lnSpcReduction="20000"/>
          </a:bodyPr>
          <a:lstStyle/>
          <a:p>
            <a:r>
              <a:rPr lang="sr-Latn-RS" b="1" dirty="0" smtClean="0"/>
              <a:t>Spotify</a:t>
            </a:r>
          </a:p>
          <a:p>
            <a:pPr lvl="1"/>
            <a:r>
              <a:rPr lang="sr-Latn-RS" b="1" dirty="0" smtClean="0"/>
              <a:t>Tržišni udeo</a:t>
            </a:r>
            <a:r>
              <a:rPr lang="sr-Latn-RS" dirty="0" smtClean="0"/>
              <a:t>: 30.5% globalnog tržišta</a:t>
            </a:r>
          </a:p>
          <a:p>
            <a:pPr lvl="1"/>
            <a:r>
              <a:rPr lang="sr-Latn-RS" b="1" dirty="0" smtClean="0"/>
              <a:t>Karakteristike</a:t>
            </a:r>
            <a:r>
              <a:rPr lang="sr-Latn-RS" dirty="0" smtClean="0"/>
              <a:t>: Najrazvijeniji algoritam za preporuke, fokus na plejliste</a:t>
            </a:r>
          </a:p>
          <a:p>
            <a:pPr lvl="1"/>
            <a:r>
              <a:rPr lang="sr-Latn-RS" b="1" dirty="0" smtClean="0"/>
              <a:t>Jedinstveno</a:t>
            </a:r>
            <a:r>
              <a:rPr lang="sr-Latn-RS" dirty="0" smtClean="0"/>
              <a:t>: Discover Weekly, Daily Mixes, Collaborative playlists</a:t>
            </a:r>
          </a:p>
          <a:p>
            <a:pPr lvl="1"/>
            <a:r>
              <a:rPr lang="sr-Latn-RS" b="1" dirty="0" smtClean="0"/>
              <a:t>Osnovna baza korisnika</a:t>
            </a:r>
            <a:r>
              <a:rPr lang="sr-Latn-RS" dirty="0" smtClean="0"/>
              <a:t>: 250+ miliona korisnika</a:t>
            </a:r>
          </a:p>
          <a:p>
            <a:r>
              <a:rPr lang="sr-Latn-RS" b="1" dirty="0" smtClean="0"/>
              <a:t>Deezer</a:t>
            </a:r>
          </a:p>
          <a:p>
            <a:pPr lvl="1"/>
            <a:r>
              <a:rPr lang="sr-Latn-RS" b="1" dirty="0" smtClean="0"/>
              <a:t>Tržišni udeo</a:t>
            </a:r>
            <a:r>
              <a:rPr lang="sr-Latn-RS" dirty="0" smtClean="0"/>
              <a:t>: 5.7% globalnog tržišta</a:t>
            </a:r>
          </a:p>
          <a:p>
            <a:pPr lvl="1"/>
            <a:r>
              <a:rPr lang="sr-Latn-RS" b="1" dirty="0" smtClean="0"/>
              <a:t>Karakteristike</a:t>
            </a:r>
            <a:r>
              <a:rPr lang="sr-Latn-RS" dirty="0" smtClean="0"/>
              <a:t>: Hi-Fi kvalitet zvuka, personalizovani Flow</a:t>
            </a:r>
          </a:p>
          <a:p>
            <a:pPr lvl="1"/>
            <a:r>
              <a:rPr lang="sr-Latn-RS" b="1" dirty="0" smtClean="0"/>
              <a:t>Jedinstveno</a:t>
            </a:r>
            <a:r>
              <a:rPr lang="sr-Latn-RS" dirty="0" smtClean="0"/>
              <a:t>: SongCatcher (prepoznavanje pesama), muzički motivi</a:t>
            </a:r>
          </a:p>
          <a:p>
            <a:pPr lvl="1"/>
            <a:r>
              <a:rPr lang="sr-Latn-RS" b="1" dirty="0" smtClean="0"/>
              <a:t>Osnovna baza korisnika</a:t>
            </a:r>
            <a:r>
              <a:rPr lang="sr-Latn-RS" dirty="0" smtClean="0"/>
              <a:t>: 90+ miliona korisnika</a:t>
            </a:r>
          </a:p>
          <a:p>
            <a:r>
              <a:rPr lang="sr-Latn-RS" b="1" dirty="0" smtClean="0"/>
              <a:t>YouTube Music</a:t>
            </a:r>
          </a:p>
          <a:p>
            <a:pPr lvl="1"/>
            <a:r>
              <a:rPr lang="sr-Latn-RS" b="1" dirty="0" smtClean="0"/>
              <a:t>Tržišni udeo</a:t>
            </a:r>
            <a:r>
              <a:rPr lang="sr-Latn-RS" dirty="0" smtClean="0"/>
              <a:t>: 15% globalnog tržišta</a:t>
            </a:r>
          </a:p>
          <a:p>
            <a:pPr lvl="1"/>
            <a:r>
              <a:rPr lang="sr-Latn-RS" b="1" dirty="0" smtClean="0"/>
              <a:t>Karakteristike</a:t>
            </a:r>
            <a:r>
              <a:rPr lang="sr-Latn-RS" dirty="0" smtClean="0"/>
              <a:t>: Integracija sa video sadržajem, veliki katalog neobjavljenog sadržaja</a:t>
            </a:r>
          </a:p>
          <a:p>
            <a:pPr lvl="1"/>
            <a:r>
              <a:rPr lang="sr-Latn-RS" b="1" dirty="0" smtClean="0"/>
              <a:t>Jedinstveno</a:t>
            </a:r>
            <a:r>
              <a:rPr lang="sr-Latn-RS" dirty="0" smtClean="0"/>
              <a:t>: Pristup live nastupima, cover verzijama, remixima</a:t>
            </a:r>
          </a:p>
          <a:p>
            <a:pPr lvl="1"/>
            <a:r>
              <a:rPr lang="sr-Latn-RS" b="1" dirty="0" smtClean="0"/>
              <a:t>Osnovna baza korisnika</a:t>
            </a:r>
            <a:r>
              <a:rPr lang="sr-Latn-RS" dirty="0" smtClean="0"/>
              <a:t>: 100+ miliona korisnika</a:t>
            </a:r>
          </a:p>
          <a:p>
            <a:r>
              <a:rPr lang="sr-Latn-RS" b="1" dirty="0" smtClean="0"/>
              <a:t>SoundCloud</a:t>
            </a:r>
          </a:p>
          <a:p>
            <a:pPr lvl="1"/>
            <a:r>
              <a:rPr lang="sr-Latn-RS" b="1" dirty="0" smtClean="0"/>
              <a:t>Tržišni udeo</a:t>
            </a:r>
            <a:r>
              <a:rPr lang="sr-Latn-RS" dirty="0" smtClean="0"/>
              <a:t>: 3% globalnog tržišta</a:t>
            </a:r>
          </a:p>
          <a:p>
            <a:pPr lvl="1"/>
            <a:r>
              <a:rPr lang="sr-Latn-RS" b="1" dirty="0" smtClean="0"/>
              <a:t>Karakteristike</a:t>
            </a:r>
            <a:r>
              <a:rPr lang="sr-Latn-RS" dirty="0" smtClean="0"/>
              <a:t>: Fokus na nezavisne umetnike, komentari na specifičnim delovima pesama</a:t>
            </a:r>
          </a:p>
          <a:p>
            <a:pPr lvl="1"/>
            <a:r>
              <a:rPr lang="sr-Latn-RS" b="1" dirty="0" smtClean="0"/>
              <a:t>Jedinstveno</a:t>
            </a:r>
            <a:r>
              <a:rPr lang="sr-Latn-RS" dirty="0" smtClean="0"/>
              <a:t>: Direktna interakcija izvođač-slušalac, korisnici mogu postaviti svoju muziku</a:t>
            </a:r>
          </a:p>
          <a:p>
            <a:pPr lvl="1"/>
            <a:r>
              <a:rPr lang="sr-Latn-RS" b="1" dirty="0" smtClean="0"/>
              <a:t>Osnovna baza korisnika</a:t>
            </a:r>
            <a:r>
              <a:rPr lang="sr-Latn-RS" dirty="0" smtClean="0"/>
              <a:t>: 175+ miliona korisnika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69423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ZAŠTO FOKUS NA </a:t>
            </a:r>
            <a:r>
              <a:rPr lang="sr-Latn-RS" dirty="0" smtClean="0"/>
              <a:t>„</a:t>
            </a:r>
            <a:r>
              <a:rPr lang="pt-BR" dirty="0" smtClean="0"/>
              <a:t>OTKRIVANJE NOVE MUZIKE"?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 smtClean="0"/>
              <a:t>Poslovni značaj</a:t>
            </a:r>
          </a:p>
          <a:p>
            <a:pPr lvl="1"/>
            <a:r>
              <a:rPr lang="sr-Latn-RS" dirty="0" smtClean="0"/>
              <a:t>47% korisnika prestaje da koristi platformu jer ne pronalazi novu muziku koja im se sviđa</a:t>
            </a:r>
          </a:p>
          <a:p>
            <a:pPr lvl="1"/>
            <a:r>
              <a:rPr lang="sr-Latn-RS" dirty="0" smtClean="0"/>
              <a:t>72% povećanje angažovanja korisnika kada redovno otkrivaju novu muziku</a:t>
            </a:r>
          </a:p>
          <a:p>
            <a:pPr lvl="1"/>
            <a:r>
              <a:rPr lang="sr-Latn-RS" dirty="0" smtClean="0"/>
              <a:t>Direktan uticaj na stopu zadržavanja korisnika</a:t>
            </a:r>
          </a:p>
          <a:p>
            <a:r>
              <a:rPr lang="sr-Latn-RS" b="1" dirty="0" smtClean="0"/>
              <a:t>Tehnološka kompleksnost</a:t>
            </a:r>
          </a:p>
          <a:p>
            <a:pPr lvl="1"/>
            <a:r>
              <a:rPr lang="sr-Latn-RS" dirty="0" smtClean="0"/>
              <a:t>Napredni algoritmi mašinskog učenja</a:t>
            </a:r>
          </a:p>
          <a:p>
            <a:pPr lvl="1"/>
            <a:r>
              <a:rPr lang="sr-Latn-RS" dirty="0" smtClean="0"/>
              <a:t>Kombinovanje podataka o ponašanju, preferenci i društvenim vezama</a:t>
            </a:r>
          </a:p>
          <a:p>
            <a:pPr lvl="1"/>
            <a:r>
              <a:rPr lang="sr-Latn-RS" dirty="0" smtClean="0"/>
              <a:t>Balansiranje između personalizacije i raznovrsnosti</a:t>
            </a:r>
          </a:p>
          <a:p>
            <a:r>
              <a:rPr lang="sr-Latn-RS" b="1" dirty="0" smtClean="0"/>
              <a:t>Raznolikost implementacija</a:t>
            </a:r>
          </a:p>
          <a:p>
            <a:pPr lvl="1"/>
            <a:r>
              <a:rPr lang="sr-Latn-RS" dirty="0" smtClean="0"/>
              <a:t>Svaka platforma ima jedinstven pristup problemu otkrivanja</a:t>
            </a:r>
          </a:p>
          <a:p>
            <a:pPr lvl="1"/>
            <a:r>
              <a:rPr lang="sr-Latn-RS" dirty="0" smtClean="0"/>
              <a:t>Različiti modeli preporuka (kolaborativno filtriranje, analiza sadržaja)</a:t>
            </a:r>
          </a:p>
          <a:p>
            <a:pPr lvl="1"/>
            <a:r>
              <a:rPr lang="sr-Latn-RS" dirty="0" smtClean="0"/>
              <a:t>Različiti korisnički interfejsi za istu funkcionalnost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5252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ŠTA OČEKUJEMO OD ISTRAŽIVANJA?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 smtClean="0"/>
              <a:t>Kvantitativni rezultati</a:t>
            </a:r>
          </a:p>
          <a:p>
            <a:pPr lvl="1"/>
            <a:r>
              <a:rPr lang="sr-Latn-RS" dirty="0" smtClean="0"/>
              <a:t>Merljive razlike u efikasnosti otkrivanja muzike između platformi</a:t>
            </a:r>
          </a:p>
          <a:p>
            <a:pPr lvl="1"/>
            <a:r>
              <a:rPr lang="sr-Latn-RS" dirty="0" smtClean="0"/>
              <a:t>Identifikacija platforme sa najbržim putem do relevantnih otkrića</a:t>
            </a:r>
          </a:p>
          <a:p>
            <a:pPr lvl="1"/>
            <a:r>
              <a:rPr lang="sr-Latn-RS" dirty="0" smtClean="0"/>
              <a:t>Poređenje stope uspešnosti korisnika u izvršavanju zadataka</a:t>
            </a:r>
          </a:p>
          <a:p>
            <a:r>
              <a:rPr lang="sr-Latn-RS" b="1" dirty="0" smtClean="0"/>
              <a:t>Kvalitativni nalazi</a:t>
            </a:r>
          </a:p>
          <a:p>
            <a:pPr lvl="1"/>
            <a:r>
              <a:rPr lang="sr-Latn-RS" dirty="0" smtClean="0"/>
              <a:t>Razumevanje subjektivnog doživljaja interfejsa</a:t>
            </a:r>
          </a:p>
          <a:p>
            <a:pPr lvl="1"/>
            <a:r>
              <a:rPr lang="sr-Latn-RS" dirty="0" smtClean="0"/>
              <a:t>Identifikacija specifičnih frustracija i prepreka</a:t>
            </a:r>
          </a:p>
          <a:p>
            <a:pPr lvl="1"/>
            <a:r>
              <a:rPr lang="sr-Latn-RS" dirty="0" smtClean="0"/>
              <a:t>Uvid u preferencije različitih tipova korisnika</a:t>
            </a:r>
          </a:p>
          <a:p>
            <a:r>
              <a:rPr lang="sr-Latn-RS" b="1" dirty="0" smtClean="0"/>
              <a:t>Praktične implikacije</a:t>
            </a:r>
          </a:p>
          <a:p>
            <a:pPr lvl="1"/>
            <a:r>
              <a:rPr lang="sr-Latn-RS" dirty="0" smtClean="0"/>
              <a:t>Preporuke za najbolje prakse u dizajnu interfejsa za otkrivanje muzike</a:t>
            </a:r>
          </a:p>
          <a:p>
            <a:pPr lvl="1"/>
            <a:r>
              <a:rPr lang="sr-Latn-RS" dirty="0" smtClean="0"/>
              <a:t>Identifikacija funkcionalnosti koje korisnici najviše cene</a:t>
            </a:r>
          </a:p>
          <a:p>
            <a:pPr lvl="1"/>
            <a:r>
              <a:rPr lang="sr-Latn-RS" dirty="0" smtClean="0"/>
              <a:t>Razumevanje balansa između jednostavnosti i naprednih opcija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251455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METODOLOGIJA ISTRAŽIVANJA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b="1" dirty="0" smtClean="0"/>
              <a:t>Tip testiranja</a:t>
            </a:r>
          </a:p>
          <a:p>
            <a:pPr lvl="1"/>
            <a:r>
              <a:rPr lang="sr-Latn-RS" dirty="0" smtClean="0"/>
              <a:t>Uporedno testiranje upotrebljivosti</a:t>
            </a:r>
          </a:p>
          <a:p>
            <a:pPr lvl="1"/>
            <a:r>
              <a:rPr lang="sr-Latn-RS" dirty="0" smtClean="0"/>
              <a:t>Fokus na konkretne zadatke </a:t>
            </a:r>
          </a:p>
          <a:p>
            <a:pPr lvl="1"/>
            <a:r>
              <a:rPr lang="sr-Latn-RS" dirty="0" smtClean="0"/>
              <a:t>Razmišljanje naglas </a:t>
            </a:r>
          </a:p>
          <a:p>
            <a:r>
              <a:rPr lang="sr-Latn-RS" b="1" dirty="0" smtClean="0"/>
              <a:t>Učesnici</a:t>
            </a:r>
          </a:p>
          <a:p>
            <a:pPr lvl="1"/>
            <a:r>
              <a:rPr lang="sr-Latn-RS" dirty="0" smtClean="0"/>
              <a:t>Mešoviti nivoi iskustva</a:t>
            </a:r>
          </a:p>
          <a:p>
            <a:pPr lvl="1"/>
            <a:r>
              <a:rPr lang="sr-Latn-RS" dirty="0" smtClean="0"/>
              <a:t>Različite demografske grupe</a:t>
            </a:r>
          </a:p>
          <a:p>
            <a:r>
              <a:rPr lang="sr-Latn-RS" b="1" dirty="0" smtClean="0"/>
              <a:t>Metrike</a:t>
            </a:r>
          </a:p>
          <a:p>
            <a:pPr lvl="1"/>
            <a:r>
              <a:rPr lang="sr-Latn-RS" dirty="0" smtClean="0"/>
              <a:t>Vreme završetka zadataka</a:t>
            </a:r>
          </a:p>
          <a:p>
            <a:pPr lvl="1"/>
            <a:r>
              <a:rPr lang="sr-Latn-RS" dirty="0" smtClean="0"/>
              <a:t>Stopa uspešnosti</a:t>
            </a:r>
          </a:p>
          <a:p>
            <a:pPr lvl="1"/>
            <a:r>
              <a:rPr lang="sr-Latn-RS" dirty="0" smtClean="0"/>
              <a:t>Broj interakcija/klikova</a:t>
            </a:r>
          </a:p>
          <a:p>
            <a:pPr lvl="1"/>
            <a:r>
              <a:rPr lang="sr-Latn-RS" dirty="0" smtClean="0"/>
              <a:t>Subjektivno zadovoljstvo (SUS skala)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167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85215"/>
            <a:ext cx="10515600" cy="1325563"/>
          </a:xfrm>
        </p:spPr>
        <p:txBody>
          <a:bodyPr/>
          <a:lstStyle/>
          <a:p>
            <a:r>
              <a:rPr lang="sr-Latn-RS" dirty="0" smtClean="0"/>
              <a:t>SPOTIFY: PREGLED PLATFORME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0348"/>
            <a:ext cx="10515600" cy="4351338"/>
          </a:xfrm>
        </p:spPr>
        <p:txBody>
          <a:bodyPr>
            <a:normAutofit/>
          </a:bodyPr>
          <a:lstStyle/>
          <a:p>
            <a:r>
              <a:rPr lang="sr-Latn-RS" b="1" dirty="0" smtClean="0"/>
              <a:t>Ključne funkcije za otkrivanje muzike</a:t>
            </a:r>
          </a:p>
          <a:p>
            <a:pPr lvl="1"/>
            <a:r>
              <a:rPr lang="sr-Latn-RS" b="1" dirty="0" smtClean="0"/>
              <a:t>Discover Weekly</a:t>
            </a:r>
            <a:r>
              <a:rPr lang="sr-Latn-RS" dirty="0" smtClean="0"/>
              <a:t>: Personalizovana plejlista koja se ažurira svakog ponedeljka</a:t>
            </a:r>
          </a:p>
          <a:p>
            <a:pPr lvl="1"/>
            <a:r>
              <a:rPr lang="sr-Latn-RS" b="1" dirty="0" smtClean="0"/>
              <a:t>Daily Mix</a:t>
            </a:r>
            <a:r>
              <a:rPr lang="sr-Latn-RS" dirty="0" smtClean="0"/>
              <a:t>: Više plejlista miksovanih prema vašim žanrovskim preferencijama</a:t>
            </a:r>
          </a:p>
          <a:p>
            <a:pPr lvl="1"/>
            <a:r>
              <a:rPr lang="sr-Latn-RS" b="1" dirty="0" smtClean="0"/>
              <a:t>Release Radar</a:t>
            </a:r>
            <a:r>
              <a:rPr lang="sr-Latn-RS" dirty="0" smtClean="0"/>
              <a:t>: Nove pesme izvođača koje pratite</a:t>
            </a:r>
          </a:p>
          <a:p>
            <a:pPr lvl="1"/>
            <a:r>
              <a:rPr lang="sr-Latn-RS" b="1" dirty="0" smtClean="0"/>
              <a:t>Radio stanice</a:t>
            </a:r>
            <a:r>
              <a:rPr lang="sr-Latn-RS" dirty="0" smtClean="0"/>
              <a:t>: Generisane na osnovu pesama, izvođača ili plejlista</a:t>
            </a:r>
          </a:p>
          <a:p>
            <a:pPr lvl="1"/>
            <a:r>
              <a:rPr lang="sr-Latn-RS" b="1" dirty="0" smtClean="0"/>
              <a:t>Browse</a:t>
            </a:r>
            <a:r>
              <a:rPr lang="sr-Latn-RS" dirty="0" smtClean="0"/>
              <a:t>: Kategorizovani sadržaj po žanrovima i raspoloženjima</a:t>
            </a:r>
          </a:p>
          <a:p>
            <a:r>
              <a:rPr lang="sr-Latn-RS" b="1" dirty="0" smtClean="0"/>
              <a:t>Kako pristupiti</a:t>
            </a:r>
          </a:p>
          <a:p>
            <a:pPr lvl="1"/>
            <a:r>
              <a:rPr lang="sr-Latn-RS" dirty="0" smtClean="0"/>
              <a:t>Web verzija: </a:t>
            </a:r>
            <a:r>
              <a:rPr lang="sr-Latn-RS" dirty="0" smtClean="0">
                <a:hlinkClick r:id="rId2"/>
              </a:rPr>
              <a:t>open.spotify.com</a:t>
            </a:r>
            <a:endParaRPr lang="sr-Latn-RS" dirty="0" smtClean="0"/>
          </a:p>
          <a:p>
            <a:pPr lvl="1"/>
            <a:r>
              <a:rPr lang="sr-Latn-RS" dirty="0" smtClean="0"/>
              <a:t>Desktop aplikacija za Windows/Mac</a:t>
            </a:r>
          </a:p>
          <a:p>
            <a:pPr lvl="1"/>
            <a:r>
              <a:rPr lang="sr-Latn-RS" dirty="0" smtClean="0"/>
              <a:t>Mobilne aplikacije za iOS i Android</a:t>
            </a:r>
          </a:p>
          <a:p>
            <a:endParaRPr lang="sr-Latn-RS" dirty="0"/>
          </a:p>
        </p:txBody>
      </p:sp>
      <p:pic>
        <p:nvPicPr>
          <p:cNvPr id="2050" name="Picture 2" descr="Spotify's User Interface: A Contextual Analysis | by Cimone Dailey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697373"/>
            <a:ext cx="58674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59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sr-Latn-RS" dirty="0" smtClean="0"/>
              <a:t>DEEZER: PREGLED PLATFORME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0515600" cy="4351338"/>
          </a:xfrm>
        </p:spPr>
        <p:txBody>
          <a:bodyPr>
            <a:normAutofit/>
          </a:bodyPr>
          <a:lstStyle/>
          <a:p>
            <a:r>
              <a:rPr lang="sr-Latn-RS" b="1" dirty="0" smtClean="0"/>
              <a:t>Ključne funkcije za otkrivanje muzike</a:t>
            </a:r>
          </a:p>
          <a:p>
            <a:pPr lvl="1"/>
            <a:r>
              <a:rPr lang="sr-Latn-RS" b="1" dirty="0" smtClean="0"/>
              <a:t>Flow</a:t>
            </a:r>
            <a:r>
              <a:rPr lang="sr-Latn-RS" dirty="0" smtClean="0"/>
              <a:t>: Personalizovani neprekidni tok muzike kombinuje favorite sa novim otkrićima</a:t>
            </a:r>
          </a:p>
          <a:p>
            <a:pPr lvl="1"/>
            <a:r>
              <a:rPr lang="sr-Latn-RS" b="1" dirty="0" smtClean="0"/>
              <a:t>Mixes</a:t>
            </a:r>
            <a:r>
              <a:rPr lang="sr-Latn-RS" dirty="0" smtClean="0"/>
              <a:t>: Automatski generisane plejliste po žanru, dekadi ili raspoloženju</a:t>
            </a:r>
          </a:p>
          <a:p>
            <a:pPr lvl="1"/>
            <a:r>
              <a:rPr lang="sr-Latn-RS" b="1" dirty="0" smtClean="0"/>
              <a:t>Inspirations</a:t>
            </a:r>
            <a:r>
              <a:rPr lang="sr-Latn-RS" dirty="0" smtClean="0"/>
              <a:t>: Tematske kolekcije za različite aktivnosti i raspoloženja</a:t>
            </a:r>
          </a:p>
          <a:p>
            <a:pPr lvl="1"/>
            <a:r>
              <a:rPr lang="sr-Latn-RS" b="1" dirty="0" smtClean="0"/>
              <a:t>Radar novih izdanja</a:t>
            </a:r>
            <a:r>
              <a:rPr lang="sr-Latn-RS" dirty="0" smtClean="0"/>
              <a:t>: Najnovije izdanja od izvođača koje volite</a:t>
            </a:r>
          </a:p>
          <a:p>
            <a:pPr lvl="1"/>
            <a:r>
              <a:rPr lang="sr-Latn-RS" b="1" dirty="0" smtClean="0"/>
              <a:t>Šta slušaju vaši prijatelji</a:t>
            </a:r>
            <a:r>
              <a:rPr lang="sr-Latn-RS" dirty="0" smtClean="0"/>
              <a:t>: Socijalna komponenta otkrivanja</a:t>
            </a:r>
          </a:p>
          <a:p>
            <a:r>
              <a:rPr lang="sr-Latn-RS" b="1" dirty="0" smtClean="0"/>
              <a:t>Kako pristupiti</a:t>
            </a:r>
          </a:p>
          <a:p>
            <a:pPr lvl="1"/>
            <a:r>
              <a:rPr lang="sr-Latn-RS" dirty="0" smtClean="0"/>
              <a:t>Web verzija: </a:t>
            </a:r>
            <a:r>
              <a:rPr lang="sr-Latn-RS" dirty="0" smtClean="0">
                <a:hlinkClick r:id="rId2"/>
              </a:rPr>
              <a:t>www.deezer.com</a:t>
            </a:r>
            <a:endParaRPr lang="sr-Latn-RS" dirty="0" smtClean="0"/>
          </a:p>
          <a:p>
            <a:pPr lvl="1"/>
            <a:r>
              <a:rPr lang="sr-Latn-RS" dirty="0" smtClean="0"/>
              <a:t>Desktop aplikacija za Windows/Mac</a:t>
            </a:r>
          </a:p>
          <a:p>
            <a:pPr lvl="1"/>
            <a:r>
              <a:rPr lang="sr-Latn-RS" dirty="0" smtClean="0"/>
              <a:t>Mobilne aplikacije za iOS i Android</a:t>
            </a:r>
          </a:p>
          <a:p>
            <a:endParaRPr lang="sr-Latn-RS" dirty="0"/>
          </a:p>
        </p:txBody>
      </p:sp>
      <p:pic>
        <p:nvPicPr>
          <p:cNvPr id="3074" name="Picture 2" descr="Opinions about the new visual identity of Deezer (Again) | Deezer  Community, bringing music lovers togeth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344" y="3853719"/>
            <a:ext cx="4970656" cy="300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37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sr-Latn-RS" dirty="0" smtClean="0"/>
              <a:t>YOUTUBE MUSIC: PREGLED PLATFORME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0515600" cy="4351338"/>
          </a:xfrm>
        </p:spPr>
        <p:txBody>
          <a:bodyPr>
            <a:normAutofit/>
          </a:bodyPr>
          <a:lstStyle/>
          <a:p>
            <a:r>
              <a:rPr lang="sr-Latn-RS" b="1" dirty="0" smtClean="0"/>
              <a:t>Ključne funkcije za otkrivanje muzike</a:t>
            </a:r>
          </a:p>
          <a:p>
            <a:pPr lvl="1"/>
            <a:r>
              <a:rPr lang="sr-Latn-RS" b="1" dirty="0" smtClean="0"/>
              <a:t>Your Mixtape</a:t>
            </a:r>
            <a:r>
              <a:rPr lang="sr-Latn-RS" dirty="0" smtClean="0"/>
              <a:t>: Personalizovana plejlista koja se konstantno ažurira</a:t>
            </a:r>
          </a:p>
          <a:p>
            <a:pPr lvl="1"/>
            <a:r>
              <a:rPr lang="sr-Latn-RS" b="1" dirty="0" smtClean="0"/>
              <a:t>New releases</a:t>
            </a:r>
            <a:r>
              <a:rPr lang="sr-Latn-RS" dirty="0" smtClean="0"/>
              <a:t>: Nova izdanja prilagođena vašim preferencijama</a:t>
            </a:r>
          </a:p>
          <a:p>
            <a:pPr lvl="1"/>
            <a:r>
              <a:rPr lang="sr-Latn-RS" b="1" dirty="0" smtClean="0"/>
              <a:t>Moods &amp; Genres</a:t>
            </a:r>
            <a:r>
              <a:rPr lang="sr-Latn-RS" dirty="0" smtClean="0"/>
              <a:t>: Organizovane kolekcije prema raspoloženju i žanru</a:t>
            </a:r>
          </a:p>
          <a:p>
            <a:pPr lvl="1"/>
            <a:r>
              <a:rPr lang="sr-Latn-RS" b="1" dirty="0" smtClean="0"/>
              <a:t>Artist radio</a:t>
            </a:r>
            <a:r>
              <a:rPr lang="sr-Latn-RS" dirty="0" smtClean="0"/>
              <a:t>: Automatski generisane plejliste na osnovu izvođača</a:t>
            </a:r>
          </a:p>
          <a:p>
            <a:pPr lvl="1"/>
            <a:r>
              <a:rPr lang="sr-Latn-RS" b="1" dirty="0" smtClean="0"/>
              <a:t>Odkritia na osnovu istorije gledanja</a:t>
            </a:r>
            <a:r>
              <a:rPr lang="sr-Latn-RS" dirty="0" smtClean="0"/>
              <a:t>: Povezanost sa YouTube videima</a:t>
            </a:r>
          </a:p>
          <a:p>
            <a:r>
              <a:rPr lang="sr-Latn-RS" b="1" dirty="0" smtClean="0"/>
              <a:t>Kako pristupiti</a:t>
            </a:r>
          </a:p>
          <a:p>
            <a:pPr lvl="1"/>
            <a:r>
              <a:rPr lang="sr-Latn-RS" dirty="0" smtClean="0"/>
              <a:t>Web verzija: </a:t>
            </a:r>
            <a:r>
              <a:rPr lang="sr-Latn-RS" dirty="0" smtClean="0">
                <a:hlinkClick r:id="rId2"/>
              </a:rPr>
              <a:t>music.youtube.com</a:t>
            </a:r>
            <a:endParaRPr lang="sr-Latn-RS" dirty="0" smtClean="0"/>
          </a:p>
          <a:p>
            <a:pPr lvl="1"/>
            <a:r>
              <a:rPr lang="sr-Latn-RS" dirty="0" smtClean="0"/>
              <a:t>Mobilne aplikacije za iOS i Android</a:t>
            </a:r>
          </a:p>
          <a:p>
            <a:pPr lvl="1"/>
            <a:r>
              <a:rPr lang="sr-Latn-RS" dirty="0" smtClean="0"/>
              <a:t>Integracija sa YouTube aplikacijom</a:t>
            </a:r>
          </a:p>
          <a:p>
            <a:endParaRPr lang="sr-Latn-RS" dirty="0"/>
          </a:p>
        </p:txBody>
      </p:sp>
      <p:pic>
        <p:nvPicPr>
          <p:cNvPr id="4098" name="Picture 2" descr="Remaking the YouTube Music Now Playing Layout : r/YoutubeMus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3849216"/>
            <a:ext cx="6515100" cy="300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71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sr-Latn-RS" dirty="0" smtClean="0"/>
              <a:t>SOUNDCLOUD: PREGLED PLATFORME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0515600" cy="4351338"/>
          </a:xfrm>
        </p:spPr>
        <p:txBody>
          <a:bodyPr>
            <a:normAutofit/>
          </a:bodyPr>
          <a:lstStyle/>
          <a:p>
            <a:r>
              <a:rPr lang="sr-Latn-RS" b="1" dirty="0" smtClean="0"/>
              <a:t>Ključne funkcije za otkrivanje muzike</a:t>
            </a:r>
          </a:p>
          <a:p>
            <a:pPr lvl="1"/>
            <a:r>
              <a:rPr lang="sr-Latn-RS" b="1" dirty="0" smtClean="0"/>
              <a:t>The Upload</a:t>
            </a:r>
            <a:r>
              <a:rPr lang="sr-Latn-RS" dirty="0" smtClean="0"/>
              <a:t>: Personalizovane dnevne preporuke novih numera</a:t>
            </a:r>
          </a:p>
          <a:p>
            <a:pPr lvl="1"/>
            <a:r>
              <a:rPr lang="sr-Latn-RS" b="1" dirty="0" smtClean="0"/>
              <a:t>Charts</a:t>
            </a:r>
            <a:r>
              <a:rPr lang="sr-Latn-RS" dirty="0" smtClean="0"/>
              <a:t>: Najpopularniji sadržaj po žanrovima</a:t>
            </a:r>
          </a:p>
          <a:p>
            <a:pPr lvl="1"/>
            <a:r>
              <a:rPr lang="sr-Latn-RS" b="1" dirty="0" smtClean="0"/>
              <a:t>Discover</a:t>
            </a:r>
            <a:r>
              <a:rPr lang="sr-Latn-RS" dirty="0" smtClean="0"/>
              <a:t>: Preporuke na osnovu aktivnosti praćenja i istorije slušanja</a:t>
            </a:r>
          </a:p>
          <a:p>
            <a:pPr lvl="1"/>
            <a:r>
              <a:rPr lang="sr-Latn-RS" b="1" dirty="0" smtClean="0"/>
              <a:t>Stations</a:t>
            </a:r>
            <a:r>
              <a:rPr lang="sr-Latn-RS" dirty="0" smtClean="0"/>
              <a:t>: Automatski generisane plejliste slične radio stanicama</a:t>
            </a:r>
          </a:p>
          <a:p>
            <a:pPr lvl="1"/>
            <a:r>
              <a:rPr lang="sr-Latn-RS" b="1" dirty="0" smtClean="0"/>
              <a:t>Repost networks</a:t>
            </a:r>
            <a:r>
              <a:rPr lang="sr-Latn-RS" dirty="0" smtClean="0"/>
              <a:t>: Otkrivanje kroz zajednice korisnika i umetnika</a:t>
            </a:r>
          </a:p>
          <a:p>
            <a:r>
              <a:rPr lang="sr-Latn-RS" b="1" dirty="0" smtClean="0"/>
              <a:t>Kako pristupiti</a:t>
            </a:r>
          </a:p>
          <a:p>
            <a:pPr lvl="1"/>
            <a:r>
              <a:rPr lang="sr-Latn-RS" dirty="0" smtClean="0"/>
              <a:t>Web verzija: </a:t>
            </a:r>
            <a:r>
              <a:rPr lang="sr-Latn-RS" dirty="0" smtClean="0">
                <a:hlinkClick r:id="rId2"/>
              </a:rPr>
              <a:t>www.soundcloud.com</a:t>
            </a:r>
            <a:endParaRPr lang="sr-Latn-RS" dirty="0" smtClean="0"/>
          </a:p>
          <a:p>
            <a:pPr lvl="1"/>
            <a:r>
              <a:rPr lang="sr-Latn-RS" dirty="0" smtClean="0"/>
              <a:t>Mobilne aplikacije za iOS i Android</a:t>
            </a:r>
          </a:p>
          <a:p>
            <a:endParaRPr lang="sr-Latn-RS" dirty="0"/>
          </a:p>
        </p:txBody>
      </p:sp>
      <p:pic>
        <p:nvPicPr>
          <p:cNvPr id="5122" name="Picture 2" descr="New SoundCloud, Now For Everyone: What's New, Screenshots and Analysis -  CDM Create Digital Musi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3785078"/>
            <a:ext cx="4572000" cy="307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84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ZADACI ZA TESTIRANJE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b="1" dirty="0" smtClean="0"/>
              <a:t>Zadatak 1: Otkrivanje po žanru (2 min)</a:t>
            </a:r>
          </a:p>
          <a:p>
            <a:r>
              <a:rPr lang="sr-Latn-RS" dirty="0" smtClean="0"/>
              <a:t>"Pronađi nove pesme u žanru [pop/rock/elektronika/hip-hop] koji najčešće slušaš"</a:t>
            </a:r>
          </a:p>
          <a:p>
            <a:r>
              <a:rPr lang="sr-Latn-RS" b="1" dirty="0" smtClean="0"/>
              <a:t>Zadatak 2: Preporuke po izvođaču (3 min)</a:t>
            </a:r>
          </a:p>
          <a:p>
            <a:r>
              <a:rPr lang="sr-Latn-RS" dirty="0" smtClean="0"/>
              <a:t>"Pronađi muziku sličnu izvođaču [popularni izvođač] koju ranije nisi slušao/la"</a:t>
            </a:r>
          </a:p>
          <a:p>
            <a:r>
              <a:rPr lang="sr-Latn-RS" b="1" dirty="0" smtClean="0"/>
              <a:t>Zadatak 3: Muzika prema raspoloženju (3 min)</a:t>
            </a:r>
          </a:p>
          <a:p>
            <a:r>
              <a:rPr lang="sr-Latn-RS" dirty="0" smtClean="0"/>
              <a:t>"Pronađi novu muziku baziranu na raspoloženju/aktivnosti [opuštanje/trening/učenje]"</a:t>
            </a:r>
          </a:p>
          <a:p>
            <a:r>
              <a:rPr lang="sr-Latn-RS" b="1" dirty="0" smtClean="0"/>
              <a:t>Zadatak 4: Čuvanje muzike (2 min)</a:t>
            </a:r>
          </a:p>
          <a:p>
            <a:r>
              <a:rPr lang="sr-Latn-RS" dirty="0" smtClean="0"/>
              <a:t>"Dodaj pesme koje si otkrio/la u novu plejlistu i imenuj je 'Testiranje'"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58574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Uporedni pregled</a:t>
            </a:r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67" y="1321724"/>
            <a:ext cx="9833732" cy="54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1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Muzika po žanru</a:t>
            </a:r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864"/>
          <a:stretch/>
        </p:blipFill>
        <p:spPr>
          <a:xfrm>
            <a:off x="2352152" y="2369127"/>
            <a:ext cx="7487695" cy="310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09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Muzika po izvođaču</a:t>
            </a:r>
            <a:endParaRPr lang="sr-Latn-R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267"/>
          <a:stretch/>
        </p:blipFill>
        <p:spPr>
          <a:xfrm>
            <a:off x="713510" y="2152995"/>
            <a:ext cx="11112144" cy="23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72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Muzika po raspoloženju</a:t>
            </a:r>
            <a:endParaRPr lang="sr-Latn-R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6045" y="2267958"/>
            <a:ext cx="8106906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56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PROCES TESTIRANJA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650380"/>
            <a:ext cx="11213795" cy="4751495"/>
          </a:xfrm>
        </p:spPr>
        <p:txBody>
          <a:bodyPr>
            <a:normAutofit fontScale="85000" lnSpcReduction="20000"/>
          </a:bodyPr>
          <a:lstStyle/>
          <a:p>
            <a:r>
              <a:rPr lang="sr-Latn-RS" b="1" dirty="0" smtClean="0"/>
              <a:t>Sesija testiranja (15 min po učesniku)</a:t>
            </a:r>
          </a:p>
          <a:p>
            <a:pPr lvl="1"/>
            <a:r>
              <a:rPr lang="sr-Latn-RS" dirty="0" smtClean="0"/>
              <a:t>Uvod i objašnjenje (2 min)</a:t>
            </a:r>
          </a:p>
          <a:p>
            <a:pPr lvl="1"/>
            <a:r>
              <a:rPr lang="sr-Latn-RS" dirty="0" smtClean="0"/>
              <a:t>Pred-test upitnik (2 min)</a:t>
            </a:r>
          </a:p>
          <a:p>
            <a:pPr lvl="1"/>
            <a:r>
              <a:rPr lang="sr-Latn-RS" dirty="0" smtClean="0"/>
              <a:t>Izvršavanje 4 zadatka (10 min)</a:t>
            </a:r>
          </a:p>
          <a:p>
            <a:pPr lvl="1"/>
            <a:r>
              <a:rPr lang="sr-Latn-RS" dirty="0" smtClean="0"/>
              <a:t>Post-test upitnik (5 min)</a:t>
            </a:r>
          </a:p>
          <a:p>
            <a:r>
              <a:rPr lang="sr-Latn-RS" b="1" dirty="0" smtClean="0"/>
              <a:t>Šta učesnici mogu očekivati</a:t>
            </a:r>
          </a:p>
          <a:p>
            <a:pPr lvl="1"/>
            <a:r>
              <a:rPr lang="sr-Latn-RS" dirty="0" smtClean="0"/>
              <a:t>Jednostavne zadatke fokusirane na otkrivanje muzike</a:t>
            </a:r>
          </a:p>
          <a:p>
            <a:pPr lvl="1"/>
            <a:r>
              <a:rPr lang="sr-Latn-RS" dirty="0" smtClean="0"/>
              <a:t>Mogućnost da iskreno izraze svoje mišljenje</a:t>
            </a:r>
          </a:p>
          <a:p>
            <a:pPr lvl="1"/>
            <a:r>
              <a:rPr lang="sr-Latn-RS" dirty="0" smtClean="0"/>
              <a:t>Priliku da utiču na razvoj muzičkih platformi</a:t>
            </a:r>
          </a:p>
          <a:p>
            <a:pPr lvl="1"/>
            <a:r>
              <a:rPr lang="sr-Latn-RS" dirty="0" smtClean="0"/>
              <a:t>Opuštenu atmosferu bez pritiska</a:t>
            </a:r>
          </a:p>
          <a:p>
            <a:r>
              <a:rPr lang="sr-Latn-RS" b="1" dirty="0" smtClean="0"/>
              <a:t>Uloga moderatora</a:t>
            </a:r>
          </a:p>
          <a:p>
            <a:pPr lvl="1"/>
            <a:r>
              <a:rPr lang="sr-Latn-RS" dirty="0" smtClean="0"/>
              <a:t>Daje uputstva za zadatke</a:t>
            </a:r>
          </a:p>
          <a:p>
            <a:pPr lvl="1"/>
            <a:r>
              <a:rPr lang="sr-Latn-RS" dirty="0" smtClean="0"/>
              <a:t>Podstiče razmišljanje naglas</a:t>
            </a:r>
          </a:p>
          <a:p>
            <a:pPr lvl="1"/>
            <a:r>
              <a:rPr lang="sr-Latn-RS" dirty="0" smtClean="0"/>
              <a:t>Ne pomaže u rešavanju zadataka</a:t>
            </a:r>
          </a:p>
          <a:p>
            <a:pPr lvl="1"/>
            <a:r>
              <a:rPr lang="sr-Latn-RS" dirty="0" smtClean="0"/>
              <a:t>Beleži zapažanja i meri vreme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87452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PRIKUPLJENI PODACI I KORISTI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RS" b="1" dirty="0" smtClean="0"/>
              <a:t>Šta ćemo meriti</a:t>
            </a:r>
          </a:p>
          <a:p>
            <a:pPr lvl="1"/>
            <a:r>
              <a:rPr lang="sr-Latn-RS" dirty="0" smtClean="0"/>
              <a:t>Koliko brzo korisnici pronalaze nove pesme</a:t>
            </a:r>
          </a:p>
          <a:p>
            <a:pPr lvl="1"/>
            <a:r>
              <a:rPr lang="sr-Latn-RS" dirty="0" smtClean="0"/>
              <a:t>Koliko su zadovoljni procesom otkrivanja</a:t>
            </a:r>
          </a:p>
          <a:p>
            <a:pPr lvl="1"/>
            <a:r>
              <a:rPr lang="sr-Latn-RS" dirty="0" smtClean="0"/>
              <a:t>Koje prepreke susreću tokom korišćenja</a:t>
            </a:r>
          </a:p>
          <a:p>
            <a:pPr lvl="1"/>
            <a:r>
              <a:rPr lang="sr-Latn-RS" dirty="0" smtClean="0"/>
              <a:t>Koje funkcije najviše cene</a:t>
            </a:r>
          </a:p>
          <a:p>
            <a:r>
              <a:rPr lang="sr-Latn-RS" b="1" dirty="0" smtClean="0"/>
              <a:t>Očekivani rezultati</a:t>
            </a:r>
          </a:p>
          <a:p>
            <a:pPr lvl="1"/>
            <a:r>
              <a:rPr lang="sr-Latn-RS" dirty="0" smtClean="0"/>
              <a:t>Jasna slika o prednostima i manama svake platforme</a:t>
            </a:r>
          </a:p>
          <a:p>
            <a:pPr lvl="1"/>
            <a:r>
              <a:rPr lang="sr-Latn-RS" dirty="0" smtClean="0"/>
              <a:t>Identifikacija najboljih praksi za otkrivanje muzike</a:t>
            </a:r>
          </a:p>
          <a:p>
            <a:pPr lvl="1"/>
            <a:r>
              <a:rPr lang="sr-Latn-RS" dirty="0" smtClean="0"/>
              <a:t>Razumevanje preferencija različitih tipova korisnika</a:t>
            </a:r>
          </a:p>
          <a:p>
            <a:r>
              <a:rPr lang="sr-Latn-RS" b="1" dirty="0" smtClean="0"/>
              <a:t>Kako će rezultati biti korišćeni</a:t>
            </a:r>
          </a:p>
          <a:p>
            <a:pPr lvl="1"/>
            <a:r>
              <a:rPr lang="sr-Latn-RS" dirty="0" smtClean="0"/>
              <a:t>Za unapređenje korisničkog iskustva na platformama</a:t>
            </a:r>
          </a:p>
          <a:p>
            <a:pPr lvl="1"/>
            <a:r>
              <a:rPr lang="sr-Latn-RS" dirty="0" smtClean="0"/>
              <a:t>Za bolje razumevanje šta korisnici traže</a:t>
            </a:r>
          </a:p>
          <a:p>
            <a:pPr lvl="1"/>
            <a:r>
              <a:rPr lang="sr-Latn-RS" dirty="0" smtClean="0"/>
              <a:t>Za razvoj novih funkcionalnosti za otkrivanje muzike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733736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Anketa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Nakon testiranja, korisnici će popuniti anketu kako bismo prikupili podatke za statističku obradu i analizu korisničkog iskustva</a:t>
            </a:r>
          </a:p>
          <a:p>
            <a:r>
              <a:rPr lang="sr-Latn-RS" dirty="0" smtClean="0">
                <a:hlinkClick r:id="rId2"/>
              </a:rPr>
              <a:t>Link ka anketi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110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Hvala na pažnji!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8250508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11</TotalTime>
  <Words>1091</Words>
  <Application>Microsoft Office PowerPoint</Application>
  <PresentationFormat>Widescreen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Wisp</vt:lpstr>
      <vt:lpstr>TESTIRANJE UPOTREBLJIVOSTI MUZIČKIH STREAMING PLATFORMI</vt:lpstr>
      <vt:lpstr>MUZIČKI STREAMING</vt:lpstr>
      <vt:lpstr>ZAŠTO TESTIRATI UPOTREBLJIVOST MUZIČKIH PLATFORMI?</vt:lpstr>
      <vt:lpstr>ODABRANE PLATFORME ZA TESTIRANJE</vt:lpstr>
      <vt:lpstr>ZAŠTO FOKUS NA „OTKRIVANJE NOVE MUZIKE"?</vt:lpstr>
      <vt:lpstr>ŠTA OČEKUJEMO OD ISTRAŽIVANJA?</vt:lpstr>
      <vt:lpstr>METODOLOGIJA ISTRAŽIVANJA</vt:lpstr>
      <vt:lpstr>SPOTIFY: PREGLED PLATFORME</vt:lpstr>
      <vt:lpstr>DEEZER: PREGLED PLATFORME</vt:lpstr>
      <vt:lpstr>YOUTUBE MUSIC: PREGLED PLATFORME</vt:lpstr>
      <vt:lpstr>SOUNDCLOUD: PREGLED PLATFORME</vt:lpstr>
      <vt:lpstr>ZADACI ZA TESTIRANJE</vt:lpstr>
      <vt:lpstr>Uporedni pregled</vt:lpstr>
      <vt:lpstr>Muzika po žanru</vt:lpstr>
      <vt:lpstr>Muzika po izvođaču</vt:lpstr>
      <vt:lpstr>Muzika po raspoloženju</vt:lpstr>
      <vt:lpstr>PROCES TESTIRANJA</vt:lpstr>
      <vt:lpstr>PRIKUPLJENI PODACI I KORISTI</vt:lpstr>
      <vt:lpstr>Anketa</vt:lpstr>
      <vt:lpstr>Hvala na pažnji!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TESTIRANJE UPOTREBLJIVOSTI MUZIČKIH STREAMING PLATFORMI</dc:title>
  <dc:creator>Microsoft account</dc:creator>
  <cp:lastModifiedBy>Microsoft account</cp:lastModifiedBy>
  <cp:revision>3</cp:revision>
  <dcterms:created xsi:type="dcterms:W3CDTF">2025-05-07T21:03:11Z</dcterms:created>
  <dcterms:modified xsi:type="dcterms:W3CDTF">2025-05-07T21:15:07Z</dcterms:modified>
</cp:coreProperties>
</file>